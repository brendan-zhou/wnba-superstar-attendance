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exend SemiBold"/>
      <p:regular r:id="rId25"/>
      <p:bold r:id="rId26"/>
    </p:embeddedFont>
    <p:embeddedFont>
      <p:font typeface="Lexend Light"/>
      <p:regular r:id="rId27"/>
      <p:bold r:id="rId28"/>
    </p:embeddedFont>
    <p:embeddedFont>
      <p:font typeface="Lexend Medium"/>
      <p:regular r:id="rId29"/>
      <p:bold r:id="rId30"/>
    </p:embeddedFont>
    <p:embeddedFont>
      <p:font typeface="Lexen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SemiBold-bold.fntdata"/><Relationship Id="rId25" Type="http://schemas.openxmlformats.org/officeDocument/2006/relationships/font" Target="fonts/LexendSemiBold-regular.fntdata"/><Relationship Id="rId28" Type="http://schemas.openxmlformats.org/officeDocument/2006/relationships/font" Target="fonts/LexendLight-bold.fntdata"/><Relationship Id="rId27" Type="http://schemas.openxmlformats.org/officeDocument/2006/relationships/font" Target="fonts/Lexend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-regular.fntdata"/><Relationship Id="rId30" Type="http://schemas.openxmlformats.org/officeDocument/2006/relationships/font" Target="fonts/Lexend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exen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52c8250c3f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352c8250c3f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52c8250c3f_0_1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52c8250c3f_0_1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52c8250c3f_0_3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352c8250c3f_0_3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352c8250c3f_0_1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352c8250c3f_0_1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352c8250c3f_0_3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352c8250c3f_0_3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352c8250c3f_0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352c8250c3f_0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g352c8250c3f_0_2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0" name="Google Shape;2130;g352c8250c3f_0_2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35493ff97e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35493ff97e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52c8250c3f_0_3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352c8250c3f_0_3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352c8250c3f_0_2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352c8250c3f_0_2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352c8250c3f_0_3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352c8250c3f_0_3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52c8250c3f_0_3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352c8250c3f_0_3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352c8250c3f_0_2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352c8250c3f_0_2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g352c8250c3f_0_3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9" name="Google Shape;2369;g352c8250c3f_0_3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352c8250c3f_0_3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352c8250c3f_0_3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g352c8250c3f_0_3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9" name="Google Shape;2399;g352c8250c3f_0_3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352c8250c3f_0_3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7" name="Google Shape;2417;g352c8250c3f_0_3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g352c8250c3f_0_3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1" name="Google Shape;2451;g352c8250c3f_0_3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4" name="Google Shape;64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1" name="Google Shape;191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" name="Google Shape;193;p16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5" name="Google Shape;195;p1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60" name="Google Shape;260;p1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1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17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7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7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7" name="Google Shape;32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" name="Google Shape;329;p1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" name="Google Shape;330;p1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18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4" name="Google Shape;394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6" name="Google Shape;396;p19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02" name="Google Shape;402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1" name="Google Shape;461;p20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63" name="Google Shape;463;p20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6" name="Google Shape;466;p20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7" name="Google Shape;467;p20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71" name="Google Shape;471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0" name="Google Shape;530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31" name="Google Shape;531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3" name="Google Shape;533;p21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37" name="Google Shape;537;p2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6" name="Google Shape;596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97" name="Google Shape;597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02" name="Google Shape;602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61" name="Google Shape;6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62" name="Google Shape;66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23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65" name="Google Shape;665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68" name="Google Shape;668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7" name="Google Shape;727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28" name="Google Shape;728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24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31" name="Google Shape;731;p24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32" name="Google Shape;732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35" name="Google Shape;735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94" name="Google Shape;794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95" name="Google Shape;795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5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00" name="Google Shape;80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59" name="Google Shape;859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60" name="Google Shape;860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6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2" name="Google Shape;862;p26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p26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64" name="Google Shape;864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67" name="Google Shape;867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26" name="Google Shape;926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27" name="Google Shape;927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7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2" name="Google Shape;9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3" name="Google Shape;9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7" name="Google Shape;937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8" name="Google Shape;938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39" name="Google Shape;9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42" name="Google Shape;942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01" name="Google Shape;1001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02" name="Google Shape;1002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4" name="Google Shape;1004;p30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5" name="Google Shape;1005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oogle Shape;1007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08" name="Google Shape;1008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67" name="Google Shape;1067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68" name="Google Shape;1068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1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0" name="Google Shape;1070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072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73" name="Google Shape;1073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32" name="Google Shape;1132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33" name="Google Shape;1133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2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5" name="Google Shape;1135;p32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6" name="Google Shape;1136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3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39" name="Google Shape;1139;p3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98" name="Google Shape;1198;p3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99" name="Google Shape;1199;p3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03" name="Google Shape;1203;p3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07" name="Google Shape;1207;p3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08" name="Google Shape;1208;p3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3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3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3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3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67" name="Google Shape;1267;p3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35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0" name="Google Shape;1270;p35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1" name="Google Shape;1271;p35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2" name="Google Shape;1272;p35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3" name="Google Shape;1273;p35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4" name="Google Shape;1274;p35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3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3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78" name="Google Shape;1278;p3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79" name="Google Shape;1279;p3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3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3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3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3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3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3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3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3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3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3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3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3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3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3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3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3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3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38" name="Google Shape;1338;p3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0" name="Google Shape;1340;p36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41" name="Google Shape;1341;p36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342" name="Google Shape;1342;p3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3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45" name="Google Shape;1345;p3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46" name="Google Shape;1346;p3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5" name="Google Shape;1405;p3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7" name="Google Shape;1407;p37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08" name="Google Shape;1408;p37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37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10" name="Google Shape;1410;p37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3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3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14" name="Google Shape;1414;p3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15" name="Google Shape;1415;p3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6" name="Google Shape;1436;p3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7" name="Google Shape;1437;p3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8" name="Google Shape;1438;p3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9" name="Google Shape;1439;p3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0" name="Google Shape;1440;p3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1" name="Google Shape;1441;p3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3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3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3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3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3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3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3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3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3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3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3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3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3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3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3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3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3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4" name="Google Shape;1474;p3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6" name="Google Shape;1476;p38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77" name="Google Shape;1477;p38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8" name="Google Shape;1478;p38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79" name="Google Shape;1479;p38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0" name="Google Shape;1480;p38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81" name="Google Shape;1481;p38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2" name="Google Shape;1482;p3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85" name="Google Shape;1485;p3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86" name="Google Shape;1486;p3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45" name="Google Shape;1545;p3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7" name="Google Shape;1547;p39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48" name="Google Shape;1548;p39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9" name="Google Shape;1549;p39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0" name="Google Shape;1550;p39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1" name="Google Shape;1551;p39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2" name="Google Shape;1552;p39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3" name="Google Shape;1553;p39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4" name="Google Shape;1554;p39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5" name="Google Shape;1555;p3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58" name="Google Shape;1558;p4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59" name="Google Shape;1559;p4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4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4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4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4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4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4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4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4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4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4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4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4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3" name="Google Shape;1573;p4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4" name="Google Shape;1574;p4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5" name="Google Shape;1575;p4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6" name="Google Shape;1576;p4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7" name="Google Shape;1577;p4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8" name="Google Shape;1578;p4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9" name="Google Shape;1579;p4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0" name="Google Shape;1580;p4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4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4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4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4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4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4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4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4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4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4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4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4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4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4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4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4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4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4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4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4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4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4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4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4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4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4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4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4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4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4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4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4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4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4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4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4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8" name="Google Shape;1618;p4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4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0" name="Google Shape;1620;p40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621" name="Google Shape;1621;p4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24" name="Google Shape;1624;p4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25" name="Google Shape;1625;p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84" name="Google Shape;1684;p4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4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6" name="Google Shape;1686;p41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7" name="Google Shape;1687;p41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8" name="Google Shape;1688;p41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9" name="Google Shape;1689;p41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0" name="Google Shape;1690;p41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91" name="Google Shape;1691;p41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92" name="Google Shape;1692;p4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4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95" name="Google Shape;1695;p4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96" name="Google Shape;1696;p4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2" name="Google Shape;1712;p4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3" name="Google Shape;1713;p4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4" name="Google Shape;1714;p4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5" name="Google Shape;1715;p4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6" name="Google Shape;1716;p4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7" name="Google Shape;1717;p4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8" name="Google Shape;1718;p4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5" name="Google Shape;1725;p4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4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4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4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4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4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4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4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4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4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4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4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4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4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4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4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4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4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4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4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4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4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4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4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4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4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4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4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4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4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5" name="Google Shape;1755;p4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42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7" name="Google Shape;1757;p42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58" name="Google Shape;1758;p42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9" name="Google Shape;1759;p42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60" name="Google Shape;1760;p42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1" name="Google Shape;1761;p42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2" name="Google Shape;1762;p42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3" name="Google Shape;1763;p42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64" name="Google Shape;1764;p42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5" name="Google Shape;1765;p42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6" name="Google Shape;1766;p4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69" name="Google Shape;1769;p4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70" name="Google Shape;1770;p4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4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4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4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4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4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4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4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4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4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4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4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4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4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4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4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4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4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4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4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29" name="Google Shape;1829;p4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43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31" name="Google Shape;1831;p4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4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834" name="Google Shape;1834;p4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35" name="Google Shape;1835;p4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4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4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9" name="Google Shape;1849;p4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0" name="Google Shape;1850;p4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1" name="Google Shape;1851;p4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2" name="Google Shape;1852;p4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3" name="Google Shape;1853;p4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4" name="Google Shape;1854;p4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5" name="Google Shape;1855;p4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7" name="Google Shape;1857;p4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8" name="Google Shape;1858;p4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9" name="Google Shape;1859;p4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0" name="Google Shape;1860;p4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1" name="Google Shape;1861;p4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2" name="Google Shape;1862;p4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3" name="Google Shape;1863;p4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4" name="Google Shape;1864;p4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6" name="Google Shape;1876;p4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4" name="Google Shape;1884;p4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6" name="Google Shape;1886;p4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7" name="Google Shape;1887;p4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8" name="Google Shape;1888;p4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9" name="Google Shape;1889;p4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0" name="Google Shape;1890;p4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1" name="Google Shape;1891;p4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2" name="Google Shape;1892;p4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3" name="Google Shape;1893;p4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4" name="Google Shape;1894;p4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44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6" name="Google Shape;1896;p44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7" name="Google Shape;1897;p44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8" name="Google Shape;1898;p44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9" name="Google Shape;1899;p44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0" name="Google Shape;1900;p44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1" name="Google Shape;1901;p44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2" name="Google Shape;1902;p44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3" name="Google Shape;1903;p44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4" name="Google Shape;1904;p44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5" name="Google Shape;1905;p4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spnpressroom.com/us/press-releases/2024/10/the-2024-wnba-season-delivers-record-viewership-across-espn-platforms/" TargetMode="External"/><Relationship Id="rId4" Type="http://schemas.openxmlformats.org/officeDocument/2006/relationships/hyperlink" Target="https://espnpressroom.com/us/press-releases/2024/10/the-2024-wnba-season-delivers-record-viewership-across-espn-platforms/" TargetMode="External"/><Relationship Id="rId5" Type="http://schemas.openxmlformats.org/officeDocument/2006/relationships/hyperlink" Target="https://www.acrossthetimeline.com/wnba/data.html" TargetMode="External"/><Relationship Id="rId6" Type="http://schemas.openxmlformats.org/officeDocument/2006/relationships/hyperlink" Target="https://www.acrossthetimeline.com/wnba/dat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45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Importance of Star Power in Sports</a:t>
            </a:r>
            <a:endParaRPr sz="4400"/>
          </a:p>
        </p:txBody>
      </p:sp>
      <p:sp>
        <p:nvSpPr>
          <p:cNvPr id="1911" name="Google Shape;1911;p45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</p:txBody>
      </p:sp>
      <p:grpSp>
        <p:nvGrpSpPr>
          <p:cNvPr id="1912" name="Google Shape;1912;p45"/>
          <p:cNvGrpSpPr/>
          <p:nvPr/>
        </p:nvGrpSpPr>
        <p:grpSpPr>
          <a:xfrm>
            <a:off x="1966534" y="2571650"/>
            <a:ext cx="5210945" cy="2242155"/>
            <a:chOff x="2267909" y="2831175"/>
            <a:chExt cx="4608193" cy="1982804"/>
          </a:xfrm>
        </p:grpSpPr>
        <p:grpSp>
          <p:nvGrpSpPr>
            <p:cNvPr id="1913" name="Google Shape;1913;p45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914" name="Google Shape;1914;p45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15" name="Google Shape;1915;p45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16" name="Google Shape;1916;p45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17" name="Google Shape;1917;p45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18" name="Google Shape;1918;p45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19" name="Google Shape;1919;p45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0" name="Google Shape;1920;p45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1" name="Google Shape;1921;p45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2" name="Google Shape;1922;p45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3" name="Google Shape;1923;p45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4" name="Google Shape;1924;p45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5" name="Google Shape;1925;p45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6" name="Google Shape;1926;p45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7" name="Google Shape;1927;p45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8" name="Google Shape;1928;p45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29" name="Google Shape;1929;p45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0" name="Google Shape;1930;p45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1" name="Google Shape;1931;p45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2" name="Google Shape;1932;p45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3" name="Google Shape;1933;p45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4" name="Google Shape;1934;p45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5" name="Google Shape;1935;p45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6" name="Google Shape;1936;p45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7" name="Google Shape;1937;p45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8" name="Google Shape;1938;p45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939" name="Google Shape;1939;p45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1940" name="Google Shape;1940;p45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1" name="Google Shape;1941;p45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2" name="Google Shape;1942;p45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943" name="Google Shape;194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7324" y="0"/>
            <a:ext cx="2526675" cy="269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46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9" name="Google Shape;1949;p46"/>
          <p:cNvGrpSpPr/>
          <p:nvPr/>
        </p:nvGrpSpPr>
        <p:grpSpPr>
          <a:xfrm>
            <a:off x="7317975" y="721788"/>
            <a:ext cx="429650" cy="431375"/>
            <a:chOff x="6684050" y="721788"/>
            <a:chExt cx="429650" cy="431375"/>
          </a:xfrm>
        </p:grpSpPr>
        <p:sp>
          <p:nvSpPr>
            <p:cNvPr id="1950" name="Google Shape;1950;p46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51" name="Google Shape;1951;p46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52" name="Google Shape;1952;p46"/>
          <p:cNvSpPr/>
          <p:nvPr/>
        </p:nvSpPr>
        <p:spPr>
          <a:xfrm>
            <a:off x="1170625" y="1575475"/>
            <a:ext cx="3473100" cy="17457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46"/>
          <p:cNvSpPr/>
          <p:nvPr/>
        </p:nvSpPr>
        <p:spPr>
          <a:xfrm>
            <a:off x="1147100" y="3434200"/>
            <a:ext cx="1643700" cy="15951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4" name="Google Shape;1954;p46"/>
          <p:cNvGrpSpPr/>
          <p:nvPr/>
        </p:nvGrpSpPr>
        <p:grpSpPr>
          <a:xfrm>
            <a:off x="1215325" y="3530362"/>
            <a:ext cx="270342" cy="64959"/>
            <a:chOff x="1240925" y="1619925"/>
            <a:chExt cx="277873" cy="68400"/>
          </a:xfrm>
        </p:grpSpPr>
        <p:sp>
          <p:nvSpPr>
            <p:cNvPr id="1955" name="Google Shape;1955;p46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6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6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8" name="Google Shape;1958;p46"/>
          <p:cNvGrpSpPr/>
          <p:nvPr/>
        </p:nvGrpSpPr>
        <p:grpSpPr>
          <a:xfrm>
            <a:off x="1246200" y="1714425"/>
            <a:ext cx="277873" cy="68400"/>
            <a:chOff x="1240925" y="3434200"/>
            <a:chExt cx="277873" cy="68400"/>
          </a:xfrm>
        </p:grpSpPr>
        <p:sp>
          <p:nvSpPr>
            <p:cNvPr id="1959" name="Google Shape;1959;p46"/>
            <p:cNvSpPr/>
            <p:nvPr/>
          </p:nvSpPr>
          <p:spPr>
            <a:xfrm>
              <a:off x="1240925" y="343420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6"/>
            <p:cNvSpPr/>
            <p:nvPr/>
          </p:nvSpPr>
          <p:spPr>
            <a:xfrm>
              <a:off x="1345661" y="343420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6"/>
            <p:cNvSpPr/>
            <p:nvPr/>
          </p:nvSpPr>
          <p:spPr>
            <a:xfrm>
              <a:off x="1450398" y="343420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2" name="Google Shape;1962;p46"/>
          <p:cNvSpPr/>
          <p:nvPr/>
        </p:nvSpPr>
        <p:spPr>
          <a:xfrm>
            <a:off x="4875000" y="1575475"/>
            <a:ext cx="3103500" cy="23985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63" name="Google Shape;1963;p46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4" name="Google Shape;1964;p46"/>
          <p:cNvCxnSpPr/>
          <p:nvPr/>
        </p:nvCxnSpPr>
        <p:spPr>
          <a:xfrm rot="10800000">
            <a:off x="4643725" y="563700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46"/>
          <p:cNvSpPr txBox="1"/>
          <p:nvPr/>
        </p:nvSpPr>
        <p:spPr>
          <a:xfrm>
            <a:off x="5012075" y="1684625"/>
            <a:ext cx="2825700" cy="23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Superstars significantly drive fan engagement, which brings revenue and viewership, in professional sports. 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These superstars bring substantial followings that could reshape the WNBA’s economic landscape, as </a:t>
            </a:r>
            <a:r>
              <a:rPr lang="en" sz="12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it has the most potential to grow right now.</a:t>
            </a:r>
            <a:endParaRPr sz="1200">
              <a:solidFill>
                <a:schemeClr val="lt2"/>
              </a:solidFill>
              <a:highlight>
                <a:schemeClr val="accent3"/>
              </a:highlight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lt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66" name="Google Shape;1966;p46"/>
          <p:cNvSpPr/>
          <p:nvPr/>
        </p:nvSpPr>
        <p:spPr>
          <a:xfrm>
            <a:off x="6202263" y="3434188"/>
            <a:ext cx="162798" cy="200422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grpSp>
        <p:nvGrpSpPr>
          <p:cNvPr id="1967" name="Google Shape;1967;p46"/>
          <p:cNvGrpSpPr/>
          <p:nvPr/>
        </p:nvGrpSpPr>
        <p:grpSpPr>
          <a:xfrm>
            <a:off x="2973504" y="3814114"/>
            <a:ext cx="1598492" cy="1082381"/>
            <a:chOff x="-1501353" y="1025810"/>
            <a:chExt cx="1717700" cy="1191525"/>
          </a:xfrm>
        </p:grpSpPr>
        <p:sp>
          <p:nvSpPr>
            <p:cNvPr id="1968" name="Google Shape;1968;p46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9" name="Google Shape;1969;p46"/>
            <p:cNvSpPr/>
            <p:nvPr/>
          </p:nvSpPr>
          <p:spPr>
            <a:xfrm>
              <a:off x="-1501353" y="1674482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0" name="Google Shape;1970;p46"/>
            <p:cNvSpPr/>
            <p:nvPr/>
          </p:nvSpPr>
          <p:spPr>
            <a:xfrm>
              <a:off x="-1501353" y="1458272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1" name="Google Shape;1971;p46"/>
            <p:cNvSpPr/>
            <p:nvPr/>
          </p:nvSpPr>
          <p:spPr>
            <a:xfrm>
              <a:off x="-1501353" y="1242021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2" name="Google Shape;1972;p46"/>
            <p:cNvSpPr/>
            <p:nvPr/>
          </p:nvSpPr>
          <p:spPr>
            <a:xfrm>
              <a:off x="-1501353" y="1025810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73" name="Google Shape;1973;p46"/>
          <p:cNvSpPr txBox="1"/>
          <p:nvPr>
            <p:ph type="title"/>
          </p:nvPr>
        </p:nvSpPr>
        <p:spPr>
          <a:xfrm>
            <a:off x="1337013" y="530250"/>
            <a:ext cx="49662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pic>
        <p:nvPicPr>
          <p:cNvPr id="1974" name="Google Shape;19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583" y="3545747"/>
            <a:ext cx="1405414" cy="13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46"/>
          <p:cNvSpPr/>
          <p:nvPr/>
        </p:nvSpPr>
        <p:spPr>
          <a:xfrm flipH="1">
            <a:off x="573304" y="2019013"/>
            <a:ext cx="1917565" cy="1025628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8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5" y="893763"/>
                </a:cubicBezTo>
                <a:cubicBezTo>
                  <a:pt x="1516825" y="881761"/>
                  <a:pt x="1463993" y="766191"/>
                  <a:pt x="1473073" y="670751"/>
                </a:cubicBezTo>
                <a:cubicBezTo>
                  <a:pt x="1642300" y="653669"/>
                  <a:pt x="1775524" y="509778"/>
                  <a:pt x="1775524" y="336233"/>
                </a:cubicBezTo>
                <a:lnTo>
                  <a:pt x="1775524" y="336233"/>
                </a:lnTo>
                <a:cubicBezTo>
                  <a:pt x="1775524" y="151321"/>
                  <a:pt x="1624203" y="0"/>
                  <a:pt x="143929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6" name="Google Shape;1976;p46"/>
          <p:cNvSpPr txBox="1"/>
          <p:nvPr/>
        </p:nvSpPr>
        <p:spPr>
          <a:xfrm>
            <a:off x="687438" y="2090913"/>
            <a:ext cx="168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Question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46"/>
          <p:cNvSpPr txBox="1"/>
          <p:nvPr/>
        </p:nvSpPr>
        <p:spPr>
          <a:xfrm>
            <a:off x="2490875" y="1873500"/>
            <a:ext cx="19176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does the presence of superstar players affect game attendance across seasons and teams?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7"/>
          <p:cNvSpPr/>
          <p:nvPr/>
        </p:nvSpPr>
        <p:spPr>
          <a:xfrm>
            <a:off x="1262400" y="895175"/>
            <a:ext cx="6619200" cy="35055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3" name="Google Shape;1983;p47"/>
          <p:cNvGrpSpPr/>
          <p:nvPr/>
        </p:nvGrpSpPr>
        <p:grpSpPr>
          <a:xfrm>
            <a:off x="1332546" y="990833"/>
            <a:ext cx="277873" cy="68400"/>
            <a:chOff x="520925" y="1460325"/>
            <a:chExt cx="277873" cy="68400"/>
          </a:xfrm>
        </p:grpSpPr>
        <p:sp>
          <p:nvSpPr>
            <p:cNvPr id="1984" name="Google Shape;1984;p47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7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7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7" name="Google Shape;1987;p47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</p:txBody>
      </p:sp>
      <p:sp>
        <p:nvSpPr>
          <p:cNvPr id="1988" name="Google Shape;1988;p47"/>
          <p:cNvSpPr txBox="1"/>
          <p:nvPr>
            <p:ph type="title"/>
          </p:nvPr>
        </p:nvSpPr>
        <p:spPr>
          <a:xfrm>
            <a:off x="167325" y="175500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pic>
        <p:nvPicPr>
          <p:cNvPr id="1989" name="Google Shape;19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625" y="1116250"/>
            <a:ext cx="5610752" cy="315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47"/>
          <p:cNvSpPr/>
          <p:nvPr/>
        </p:nvSpPr>
        <p:spPr>
          <a:xfrm>
            <a:off x="2095050" y="4484525"/>
            <a:ext cx="4953900" cy="5880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Image source: ESPN Press Room (2024)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1" name="Google Shape;1991;p47"/>
          <p:cNvGrpSpPr/>
          <p:nvPr/>
        </p:nvGrpSpPr>
        <p:grpSpPr>
          <a:xfrm>
            <a:off x="2165196" y="4580183"/>
            <a:ext cx="277873" cy="68400"/>
            <a:chOff x="520925" y="1460325"/>
            <a:chExt cx="277873" cy="68400"/>
          </a:xfrm>
        </p:grpSpPr>
        <p:sp>
          <p:nvSpPr>
            <p:cNvPr id="1992" name="Google Shape;1992;p47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7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7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9" name="Google Shape;1999;p48"/>
          <p:cNvGrpSpPr/>
          <p:nvPr/>
        </p:nvGrpSpPr>
        <p:grpSpPr>
          <a:xfrm>
            <a:off x="411700" y="458125"/>
            <a:ext cx="3313407" cy="1014987"/>
            <a:chOff x="3055725" y="715438"/>
            <a:chExt cx="3313407" cy="1014987"/>
          </a:xfrm>
        </p:grpSpPr>
        <p:grpSp>
          <p:nvGrpSpPr>
            <p:cNvPr id="2000" name="Google Shape;2000;p48"/>
            <p:cNvGrpSpPr/>
            <p:nvPr/>
          </p:nvGrpSpPr>
          <p:grpSpPr>
            <a:xfrm>
              <a:off x="3055725" y="715438"/>
              <a:ext cx="3103050" cy="786500"/>
              <a:chOff x="3007925" y="673613"/>
              <a:chExt cx="3103050" cy="786500"/>
            </a:xfrm>
          </p:grpSpPr>
          <p:sp>
            <p:nvSpPr>
              <p:cNvPr id="2001" name="Google Shape;2001;p48"/>
              <p:cNvSpPr/>
              <p:nvPr/>
            </p:nvSpPr>
            <p:spPr>
              <a:xfrm>
                <a:off x="3077725" y="721550"/>
                <a:ext cx="2973300" cy="6780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002" name="Google Shape;2002;p48"/>
              <p:cNvSpPr/>
              <p:nvPr/>
            </p:nvSpPr>
            <p:spPr>
              <a:xfrm>
                <a:off x="300792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48"/>
              <p:cNvSpPr/>
              <p:nvPr/>
            </p:nvSpPr>
            <p:spPr>
              <a:xfrm>
                <a:off x="5973275" y="6736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8"/>
              <p:cNvSpPr/>
              <p:nvPr/>
            </p:nvSpPr>
            <p:spPr>
              <a:xfrm>
                <a:off x="5973275" y="1321013"/>
                <a:ext cx="137700" cy="1377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48"/>
              <p:cNvSpPr/>
              <p:nvPr/>
            </p:nvSpPr>
            <p:spPr>
              <a:xfrm>
                <a:off x="3007925" y="1311913"/>
                <a:ext cx="137700" cy="148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 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006" name="Google Shape;2006;p48"/>
            <p:cNvSpPr/>
            <p:nvPr/>
          </p:nvSpPr>
          <p:spPr>
            <a:xfrm rot="-2281323">
              <a:off x="6037771" y="1389972"/>
              <a:ext cx="271725" cy="287249"/>
            </a:xfrm>
            <a:custGeom>
              <a:rect b="b" l="l" r="r" t="t"/>
              <a:pathLst>
                <a:path extrusionOk="0" h="5504" w="5206">
                  <a:moveTo>
                    <a:pt x="2726" y="0"/>
                  </a:moveTo>
                  <a:lnTo>
                    <a:pt x="0" y="5493"/>
                  </a:lnTo>
                  <a:lnTo>
                    <a:pt x="2591" y="4653"/>
                  </a:lnTo>
                  <a:lnTo>
                    <a:pt x="5206" y="5504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007" name="Google Shape;2007;p48"/>
          <p:cNvSpPr/>
          <p:nvPr/>
        </p:nvSpPr>
        <p:spPr>
          <a:xfrm>
            <a:off x="4572000" y="1050150"/>
            <a:ext cx="4276500" cy="3043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48"/>
          <p:cNvSpPr/>
          <p:nvPr/>
        </p:nvSpPr>
        <p:spPr>
          <a:xfrm>
            <a:off x="341525" y="2319598"/>
            <a:ext cx="4059600" cy="2610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9" name="Google Shape;2009;p48"/>
          <p:cNvGrpSpPr/>
          <p:nvPr/>
        </p:nvGrpSpPr>
        <p:grpSpPr>
          <a:xfrm>
            <a:off x="411700" y="2420932"/>
            <a:ext cx="277873" cy="68400"/>
            <a:chOff x="411700" y="2420932"/>
            <a:chExt cx="277873" cy="68400"/>
          </a:xfrm>
        </p:grpSpPr>
        <p:sp>
          <p:nvSpPr>
            <p:cNvPr id="2010" name="Google Shape;2010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3" name="Google Shape;2013;p48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48"/>
          <p:cNvSpPr/>
          <p:nvPr/>
        </p:nvSpPr>
        <p:spPr>
          <a:xfrm>
            <a:off x="1394528" y="1581205"/>
            <a:ext cx="1953600" cy="630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Source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48"/>
          <p:cNvSpPr txBox="1"/>
          <p:nvPr>
            <p:ph idx="4" type="subTitle"/>
          </p:nvPr>
        </p:nvSpPr>
        <p:spPr>
          <a:xfrm>
            <a:off x="503225" y="3622750"/>
            <a:ext cx="37362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Years Covered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: 1997–2024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Scope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: Regular-season &amp; playoff games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Focus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: Home game attendance for 2024 playoff teams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016" name="Google Shape;2016;p48"/>
          <p:cNvSpPr txBox="1"/>
          <p:nvPr>
            <p:ph type="title"/>
          </p:nvPr>
        </p:nvSpPr>
        <p:spPr>
          <a:xfrm>
            <a:off x="1087225" y="458125"/>
            <a:ext cx="1702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Data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2017" name="Google Shape;20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19" y="2571744"/>
            <a:ext cx="2294811" cy="82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8" name="Google Shape;2018;p48"/>
          <p:cNvGrpSpPr/>
          <p:nvPr/>
        </p:nvGrpSpPr>
        <p:grpSpPr>
          <a:xfrm>
            <a:off x="4642175" y="1151482"/>
            <a:ext cx="277873" cy="68400"/>
            <a:chOff x="5202525" y="2420932"/>
            <a:chExt cx="277873" cy="68400"/>
          </a:xfrm>
        </p:grpSpPr>
        <p:sp>
          <p:nvSpPr>
            <p:cNvPr id="2019" name="Google Shape;2019;p48"/>
            <p:cNvSpPr/>
            <p:nvPr/>
          </p:nvSpPr>
          <p:spPr>
            <a:xfrm>
              <a:off x="5202525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8"/>
            <p:cNvSpPr/>
            <p:nvPr/>
          </p:nvSpPr>
          <p:spPr>
            <a:xfrm>
              <a:off x="5307261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8"/>
            <p:cNvSpPr/>
            <p:nvPr/>
          </p:nvSpPr>
          <p:spPr>
            <a:xfrm>
              <a:off x="5411998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22" name="Google Shape;20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5800" y="1473101"/>
            <a:ext cx="3968901" cy="21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49"/>
          <p:cNvSpPr/>
          <p:nvPr/>
        </p:nvSpPr>
        <p:spPr>
          <a:xfrm>
            <a:off x="440825" y="1707701"/>
            <a:ext cx="3579600" cy="3068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8" name="Google Shape;2028;p49"/>
          <p:cNvGrpSpPr/>
          <p:nvPr/>
        </p:nvGrpSpPr>
        <p:grpSpPr>
          <a:xfrm>
            <a:off x="510971" y="1803358"/>
            <a:ext cx="277873" cy="68400"/>
            <a:chOff x="520925" y="1460325"/>
            <a:chExt cx="277873" cy="68400"/>
          </a:xfrm>
        </p:grpSpPr>
        <p:sp>
          <p:nvSpPr>
            <p:cNvPr id="2029" name="Google Shape;2029;p49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9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9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2" name="Google Shape;2032;p49"/>
          <p:cNvSpPr/>
          <p:nvPr/>
        </p:nvSpPr>
        <p:spPr>
          <a:xfrm>
            <a:off x="5123575" y="1707701"/>
            <a:ext cx="3579600" cy="3068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3" name="Google Shape;2033;p49"/>
          <p:cNvGrpSpPr/>
          <p:nvPr/>
        </p:nvGrpSpPr>
        <p:grpSpPr>
          <a:xfrm>
            <a:off x="5193729" y="1803358"/>
            <a:ext cx="277873" cy="68400"/>
            <a:chOff x="520925" y="1460325"/>
            <a:chExt cx="277873" cy="68400"/>
          </a:xfrm>
        </p:grpSpPr>
        <p:sp>
          <p:nvSpPr>
            <p:cNvPr id="2034" name="Google Shape;2034;p49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9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9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7" name="Google Shape;2037;p49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sp>
        <p:nvSpPr>
          <p:cNvPr id="2038" name="Google Shape;2038;p49"/>
          <p:cNvSpPr txBox="1"/>
          <p:nvPr>
            <p:ph type="title"/>
          </p:nvPr>
        </p:nvSpPr>
        <p:spPr>
          <a:xfrm>
            <a:off x="209775" y="163775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Indiana Fever</a:t>
            </a:r>
            <a:endParaRPr/>
          </a:p>
        </p:txBody>
      </p:sp>
      <p:pic>
        <p:nvPicPr>
          <p:cNvPr id="2039" name="Google Shape;203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74" y="2160319"/>
            <a:ext cx="3579599" cy="261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19" y="2160329"/>
            <a:ext cx="3579599" cy="261587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49"/>
          <p:cNvSpPr txBox="1"/>
          <p:nvPr>
            <p:ph type="title"/>
          </p:nvPr>
        </p:nvSpPr>
        <p:spPr>
          <a:xfrm>
            <a:off x="852425" y="1039675"/>
            <a:ext cx="2756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/>
              <a:t>Caitlin Clark</a:t>
            </a:r>
            <a:endParaRPr i="1" sz="3300"/>
          </a:p>
        </p:txBody>
      </p:sp>
      <p:sp>
        <p:nvSpPr>
          <p:cNvPr id="2042" name="Google Shape;2042;p49"/>
          <p:cNvSpPr txBox="1"/>
          <p:nvPr>
            <p:ph type="title"/>
          </p:nvPr>
        </p:nvSpPr>
        <p:spPr>
          <a:xfrm>
            <a:off x="5192575" y="1039688"/>
            <a:ext cx="34416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/>
              <a:t>Kelsey Mitchell</a:t>
            </a:r>
            <a:endParaRPr i="1"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50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50"/>
          <p:cNvSpPr/>
          <p:nvPr/>
        </p:nvSpPr>
        <p:spPr>
          <a:xfrm>
            <a:off x="3545248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50"/>
          <p:cNvSpPr/>
          <p:nvPr/>
        </p:nvSpPr>
        <p:spPr>
          <a:xfrm>
            <a:off x="6130096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50"/>
          <p:cNvSpPr/>
          <p:nvPr/>
        </p:nvSpPr>
        <p:spPr>
          <a:xfrm>
            <a:off x="960400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1" name="Google Shape;2051;p50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2052" name="Google Shape;2052;p50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50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50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5" name="Google Shape;2055;p50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sp>
        <p:nvSpPr>
          <p:cNvPr id="2056" name="Google Shape;2056;p50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057" name="Google Shape;2057;p50"/>
          <p:cNvSpPr txBox="1"/>
          <p:nvPr/>
        </p:nvSpPr>
        <p:spPr>
          <a:xfrm>
            <a:off x="9605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Event Study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58" name="Google Shape;2058;p50"/>
          <p:cNvSpPr txBox="1"/>
          <p:nvPr/>
        </p:nvSpPr>
        <p:spPr>
          <a:xfrm>
            <a:off x="35452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Lead-lag Analysis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59" name="Google Shape;2059;p50"/>
          <p:cNvSpPr txBox="1"/>
          <p:nvPr/>
        </p:nvSpPr>
        <p:spPr>
          <a:xfrm>
            <a:off x="6129950" y="3541625"/>
            <a:ext cx="224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Dynamic Treatment Effect Estimation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60" name="Google Shape;2060;p50"/>
          <p:cNvGrpSpPr/>
          <p:nvPr/>
        </p:nvGrpSpPr>
        <p:grpSpPr>
          <a:xfrm>
            <a:off x="4196048" y="2356444"/>
            <a:ext cx="946911" cy="966699"/>
            <a:chOff x="1438774" y="3590059"/>
            <a:chExt cx="946911" cy="966699"/>
          </a:xfrm>
        </p:grpSpPr>
        <p:grpSp>
          <p:nvGrpSpPr>
            <p:cNvPr id="2061" name="Google Shape;2061;p50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062" name="Google Shape;2062;p50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063" name="Google Shape;2063;p50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4" name="Google Shape;2064;p50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5" name="Google Shape;2065;p50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6" name="Google Shape;2066;p50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7" name="Google Shape;2067;p50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8" name="Google Shape;2068;p50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69" name="Google Shape;2069;p50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0" name="Google Shape;2070;p50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1" name="Google Shape;2071;p50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2" name="Google Shape;2072;p50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3" name="Google Shape;2073;p50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4" name="Google Shape;2074;p50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5" name="Google Shape;2075;p50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6" name="Google Shape;2076;p50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7" name="Google Shape;2077;p50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078" name="Google Shape;2078;p50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079" name="Google Shape;2079;p50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080" name="Google Shape;2080;p50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081" name="Google Shape;2081;p50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82" name="Google Shape;2082;p50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83" name="Google Shape;2083;p50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84" name="Google Shape;2084;p50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085" name="Google Shape;2085;p50"/>
          <p:cNvGrpSpPr/>
          <p:nvPr/>
        </p:nvGrpSpPr>
        <p:grpSpPr>
          <a:xfrm>
            <a:off x="1611347" y="2356444"/>
            <a:ext cx="946911" cy="966699"/>
            <a:chOff x="151447" y="3590017"/>
            <a:chExt cx="946911" cy="966699"/>
          </a:xfrm>
        </p:grpSpPr>
        <p:grpSp>
          <p:nvGrpSpPr>
            <p:cNvPr id="2086" name="Google Shape;2086;p50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087" name="Google Shape;2087;p50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88" name="Google Shape;2088;p50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89" name="Google Shape;2089;p50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0" name="Google Shape;2090;p50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1" name="Google Shape;2091;p50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2" name="Google Shape;2092;p50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3" name="Google Shape;2093;p50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4" name="Google Shape;2094;p50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5" name="Google Shape;2095;p50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6" name="Google Shape;2096;p50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7" name="Google Shape;2097;p50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8" name="Google Shape;2098;p50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099" name="Google Shape;2099;p50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00" name="Google Shape;2100;p50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01" name="Google Shape;2101;p50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02" name="Google Shape;2102;p50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103" name="Google Shape;2103;p50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104" name="Google Shape;2104;p50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05" name="Google Shape;2105;p50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106" name="Google Shape;2106;p50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107" name="Google Shape;2107;p50"/>
          <p:cNvGrpSpPr/>
          <p:nvPr/>
        </p:nvGrpSpPr>
        <p:grpSpPr>
          <a:xfrm>
            <a:off x="6780898" y="2356444"/>
            <a:ext cx="946911" cy="966699"/>
            <a:chOff x="2725798" y="3590032"/>
            <a:chExt cx="946911" cy="966699"/>
          </a:xfrm>
        </p:grpSpPr>
        <p:grpSp>
          <p:nvGrpSpPr>
            <p:cNvPr id="2108" name="Google Shape;2108;p50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2109" name="Google Shape;2109;p50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2110" name="Google Shape;2110;p50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1" name="Google Shape;2111;p50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2" name="Google Shape;2112;p50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3" name="Google Shape;2113;p50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4" name="Google Shape;2114;p50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5" name="Google Shape;2115;p50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6" name="Google Shape;2116;p50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7" name="Google Shape;2117;p50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8" name="Google Shape;2118;p50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19" name="Google Shape;2119;p50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0" name="Google Shape;2120;p50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1" name="Google Shape;2121;p50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2" name="Google Shape;2122;p50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3" name="Google Shape;2123;p50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4" name="Google Shape;2124;p50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25" name="Google Shape;2125;p50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126" name="Google Shape;2126;p50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127" name="Google Shape;2127;p50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51"/>
          <p:cNvSpPr/>
          <p:nvPr/>
        </p:nvSpPr>
        <p:spPr>
          <a:xfrm>
            <a:off x="1842000" y="1371600"/>
            <a:ext cx="5460000" cy="33342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3" name="Google Shape;2133;p51"/>
          <p:cNvGrpSpPr/>
          <p:nvPr/>
        </p:nvGrpSpPr>
        <p:grpSpPr>
          <a:xfrm>
            <a:off x="1924464" y="1500329"/>
            <a:ext cx="326528" cy="86957"/>
            <a:chOff x="411700" y="2420932"/>
            <a:chExt cx="277873" cy="68400"/>
          </a:xfrm>
        </p:grpSpPr>
        <p:sp>
          <p:nvSpPr>
            <p:cNvPr id="2134" name="Google Shape;2134;p51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51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51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7" name="Google Shape;2137;p51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Brendan Zhou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51"/>
          <p:cNvSpPr/>
          <p:nvPr/>
        </p:nvSpPr>
        <p:spPr>
          <a:xfrm>
            <a:off x="311698" y="391500"/>
            <a:ext cx="2947800" cy="630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 Study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9" name="Google Shape;2139;p51" title="Screenshot 2025-05-02 at 9.49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625" y="2048854"/>
            <a:ext cx="5284750" cy="18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52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sp>
        <p:nvSpPr>
          <p:cNvPr id="2145" name="Google Shape;2145;p52"/>
          <p:cNvSpPr/>
          <p:nvPr/>
        </p:nvSpPr>
        <p:spPr>
          <a:xfrm>
            <a:off x="250950" y="488474"/>
            <a:ext cx="8642100" cy="4388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6" name="Google Shape;2146;p52"/>
          <p:cNvGrpSpPr/>
          <p:nvPr/>
        </p:nvGrpSpPr>
        <p:grpSpPr>
          <a:xfrm>
            <a:off x="338304" y="611823"/>
            <a:ext cx="346035" cy="88174"/>
            <a:chOff x="520925" y="1460325"/>
            <a:chExt cx="277873" cy="68400"/>
          </a:xfrm>
        </p:grpSpPr>
        <p:sp>
          <p:nvSpPr>
            <p:cNvPr id="2147" name="Google Shape;2147;p52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52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52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50" name="Google Shape;21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38" y="744212"/>
            <a:ext cx="7793911" cy="38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53"/>
          <p:cNvSpPr/>
          <p:nvPr/>
        </p:nvSpPr>
        <p:spPr>
          <a:xfrm>
            <a:off x="1047150" y="905000"/>
            <a:ext cx="7049700" cy="35385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6" name="Google Shape;2156;p53"/>
          <p:cNvGrpSpPr/>
          <p:nvPr/>
        </p:nvGrpSpPr>
        <p:grpSpPr>
          <a:xfrm>
            <a:off x="1134504" y="1028336"/>
            <a:ext cx="346035" cy="88174"/>
            <a:chOff x="520925" y="1460325"/>
            <a:chExt cx="277873" cy="68400"/>
          </a:xfrm>
        </p:grpSpPr>
        <p:sp>
          <p:nvSpPr>
            <p:cNvPr id="2157" name="Google Shape;2157;p53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53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53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0" name="Google Shape;2160;p53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pic>
        <p:nvPicPr>
          <p:cNvPr id="2161" name="Google Shape;2161;p53" title="Screenshot 2025-05-02 at 9.58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526" y="1623293"/>
            <a:ext cx="6526951" cy="21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54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54"/>
          <p:cNvSpPr/>
          <p:nvPr/>
        </p:nvSpPr>
        <p:spPr>
          <a:xfrm>
            <a:off x="3545248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54"/>
          <p:cNvSpPr/>
          <p:nvPr/>
        </p:nvSpPr>
        <p:spPr>
          <a:xfrm>
            <a:off x="6130096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54"/>
          <p:cNvSpPr/>
          <p:nvPr/>
        </p:nvSpPr>
        <p:spPr>
          <a:xfrm>
            <a:off x="960400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0" name="Google Shape;2170;p54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2171" name="Google Shape;2171;p54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54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54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4" name="Google Shape;2174;p54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Brendan Zhou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75" name="Google Shape;2175;p54"/>
          <p:cNvSpPr txBox="1"/>
          <p:nvPr>
            <p:ph type="title"/>
          </p:nvPr>
        </p:nvSpPr>
        <p:spPr>
          <a:xfrm>
            <a:off x="209775" y="468575"/>
            <a:ext cx="82365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+ Results</a:t>
            </a:r>
            <a:endParaRPr/>
          </a:p>
        </p:txBody>
      </p:sp>
      <p:sp>
        <p:nvSpPr>
          <p:cNvPr id="2176" name="Google Shape;2176;p54"/>
          <p:cNvSpPr txBox="1"/>
          <p:nvPr/>
        </p:nvSpPr>
        <p:spPr>
          <a:xfrm>
            <a:off x="9605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Event Study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77" name="Google Shape;2177;p54"/>
          <p:cNvSpPr txBox="1"/>
          <p:nvPr/>
        </p:nvSpPr>
        <p:spPr>
          <a:xfrm>
            <a:off x="35452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Lead-lag Analysis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78" name="Google Shape;2178;p54"/>
          <p:cNvSpPr txBox="1"/>
          <p:nvPr/>
        </p:nvSpPr>
        <p:spPr>
          <a:xfrm>
            <a:off x="6129950" y="3541625"/>
            <a:ext cx="224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Dynamic Treatment Effect Estimation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179" name="Google Shape;2179;p54"/>
          <p:cNvGrpSpPr/>
          <p:nvPr/>
        </p:nvGrpSpPr>
        <p:grpSpPr>
          <a:xfrm>
            <a:off x="4196048" y="2356444"/>
            <a:ext cx="946911" cy="966699"/>
            <a:chOff x="1438774" y="3590059"/>
            <a:chExt cx="946911" cy="966699"/>
          </a:xfrm>
        </p:grpSpPr>
        <p:grpSp>
          <p:nvGrpSpPr>
            <p:cNvPr id="2180" name="Google Shape;2180;p54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181" name="Google Shape;2181;p54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182" name="Google Shape;2182;p54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3" name="Google Shape;2183;p54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4" name="Google Shape;2184;p54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5" name="Google Shape;2185;p54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6" name="Google Shape;2186;p54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7" name="Google Shape;2187;p54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8" name="Google Shape;2188;p54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89" name="Google Shape;2189;p54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0" name="Google Shape;2190;p54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1" name="Google Shape;2191;p54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2" name="Google Shape;2192;p54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3" name="Google Shape;2193;p54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4" name="Google Shape;2194;p54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5" name="Google Shape;2195;p54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6" name="Google Shape;2196;p54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197" name="Google Shape;2197;p54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198" name="Google Shape;2198;p54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199" name="Google Shape;2199;p54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200" name="Google Shape;2200;p54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1" name="Google Shape;2201;p54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2" name="Google Shape;2202;p54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3" name="Google Shape;2203;p54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204" name="Google Shape;2204;p54"/>
          <p:cNvGrpSpPr/>
          <p:nvPr/>
        </p:nvGrpSpPr>
        <p:grpSpPr>
          <a:xfrm>
            <a:off x="1611347" y="2356444"/>
            <a:ext cx="946911" cy="966699"/>
            <a:chOff x="151447" y="3590017"/>
            <a:chExt cx="946911" cy="966699"/>
          </a:xfrm>
        </p:grpSpPr>
        <p:grpSp>
          <p:nvGrpSpPr>
            <p:cNvPr id="2205" name="Google Shape;2205;p54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206" name="Google Shape;2206;p54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7" name="Google Shape;2207;p54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8" name="Google Shape;2208;p54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09" name="Google Shape;2209;p54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0" name="Google Shape;2210;p54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1" name="Google Shape;2211;p54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2" name="Google Shape;2212;p54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3" name="Google Shape;2213;p54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4" name="Google Shape;2214;p54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5" name="Google Shape;2215;p54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6" name="Google Shape;2216;p54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7" name="Google Shape;2217;p54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8" name="Google Shape;2218;p54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19" name="Google Shape;2219;p54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0" name="Google Shape;2220;p54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1" name="Google Shape;2221;p54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222" name="Google Shape;2222;p54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223" name="Google Shape;2223;p54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4" name="Google Shape;2224;p54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225" name="Google Shape;2225;p54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226" name="Google Shape;2226;p54"/>
          <p:cNvGrpSpPr/>
          <p:nvPr/>
        </p:nvGrpSpPr>
        <p:grpSpPr>
          <a:xfrm>
            <a:off x="6780898" y="2356444"/>
            <a:ext cx="946911" cy="966699"/>
            <a:chOff x="2725798" y="3590032"/>
            <a:chExt cx="946911" cy="966699"/>
          </a:xfrm>
        </p:grpSpPr>
        <p:grpSp>
          <p:nvGrpSpPr>
            <p:cNvPr id="2227" name="Google Shape;2227;p54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2228" name="Google Shape;2228;p54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2229" name="Google Shape;2229;p54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0" name="Google Shape;2230;p54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1" name="Google Shape;2231;p54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2" name="Google Shape;2232;p54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3" name="Google Shape;2233;p54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4" name="Google Shape;2234;p54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5" name="Google Shape;2235;p54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6" name="Google Shape;2236;p54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7" name="Google Shape;2237;p54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8" name="Google Shape;2238;p54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39" name="Google Shape;2239;p54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40" name="Google Shape;2240;p54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41" name="Google Shape;2241;p54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42" name="Google Shape;2242;p54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43" name="Google Shape;2243;p54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244" name="Google Shape;2244;p54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245" name="Google Shape;2245;p54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246" name="Google Shape;2246;p54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55"/>
          <p:cNvSpPr/>
          <p:nvPr/>
        </p:nvSpPr>
        <p:spPr>
          <a:xfrm>
            <a:off x="4593900" y="1657725"/>
            <a:ext cx="4406100" cy="2610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2" name="Google Shape;2252;p55"/>
          <p:cNvGrpSpPr/>
          <p:nvPr/>
        </p:nvGrpSpPr>
        <p:grpSpPr>
          <a:xfrm>
            <a:off x="4664075" y="1759057"/>
            <a:ext cx="277873" cy="68400"/>
            <a:chOff x="5202525" y="2420932"/>
            <a:chExt cx="277873" cy="68400"/>
          </a:xfrm>
        </p:grpSpPr>
        <p:sp>
          <p:nvSpPr>
            <p:cNvPr id="2253" name="Google Shape;2253;p55"/>
            <p:cNvSpPr/>
            <p:nvPr/>
          </p:nvSpPr>
          <p:spPr>
            <a:xfrm>
              <a:off x="5202525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5"/>
            <p:cNvSpPr/>
            <p:nvPr/>
          </p:nvSpPr>
          <p:spPr>
            <a:xfrm>
              <a:off x="5307261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5"/>
            <p:cNvSpPr/>
            <p:nvPr/>
          </p:nvSpPr>
          <p:spPr>
            <a:xfrm>
              <a:off x="5411998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6" name="Google Shape;2256;p55"/>
          <p:cNvSpPr/>
          <p:nvPr/>
        </p:nvSpPr>
        <p:spPr>
          <a:xfrm>
            <a:off x="311700" y="2005582"/>
            <a:ext cx="4059600" cy="1914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7" name="Google Shape;2257;p55"/>
          <p:cNvGrpSpPr/>
          <p:nvPr/>
        </p:nvGrpSpPr>
        <p:grpSpPr>
          <a:xfrm>
            <a:off x="411700" y="2420932"/>
            <a:ext cx="277873" cy="68400"/>
            <a:chOff x="411700" y="2420932"/>
            <a:chExt cx="277873" cy="68400"/>
          </a:xfrm>
        </p:grpSpPr>
        <p:sp>
          <p:nvSpPr>
            <p:cNvPr id="2258" name="Google Shape;2258;p5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1" name="Google Shape;2261;p55"/>
          <p:cNvSpPr txBox="1"/>
          <p:nvPr>
            <p:ph idx="2" type="body"/>
          </p:nvPr>
        </p:nvSpPr>
        <p:spPr>
          <a:xfrm>
            <a:off x="167325" y="-39600"/>
            <a:ext cx="116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Brendan Zhou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55"/>
          <p:cNvSpPr/>
          <p:nvPr/>
        </p:nvSpPr>
        <p:spPr>
          <a:xfrm>
            <a:off x="311697" y="391500"/>
            <a:ext cx="3736200" cy="630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Lead-lag Analysis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3" name="Google Shape;2263;p55" title="Screenshot 2025-05-02 at 10.00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425" y="2238475"/>
            <a:ext cx="3984149" cy="14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55" title="Screenshot 2025-05-02 at 10.06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663" y="2005572"/>
            <a:ext cx="4246571" cy="19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56"/>
          <p:cNvSpPr/>
          <p:nvPr/>
        </p:nvSpPr>
        <p:spPr>
          <a:xfrm>
            <a:off x="49325" y="856925"/>
            <a:ext cx="4457700" cy="3533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0" name="Google Shape;2270;p56"/>
          <p:cNvGrpSpPr/>
          <p:nvPr/>
        </p:nvGrpSpPr>
        <p:grpSpPr>
          <a:xfrm>
            <a:off x="136679" y="980261"/>
            <a:ext cx="346035" cy="88174"/>
            <a:chOff x="520925" y="1460325"/>
            <a:chExt cx="277873" cy="68400"/>
          </a:xfrm>
        </p:grpSpPr>
        <p:sp>
          <p:nvSpPr>
            <p:cNvPr id="2271" name="Google Shape;2271;p5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4" name="Google Shape;2274;p56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pic>
        <p:nvPicPr>
          <p:cNvPr id="2275" name="Google Shape;22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50" y="1588825"/>
            <a:ext cx="4269650" cy="226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56"/>
          <p:cNvSpPr/>
          <p:nvPr/>
        </p:nvSpPr>
        <p:spPr>
          <a:xfrm>
            <a:off x="4642975" y="856937"/>
            <a:ext cx="4457700" cy="3533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7" name="Google Shape;2277;p56"/>
          <p:cNvGrpSpPr/>
          <p:nvPr/>
        </p:nvGrpSpPr>
        <p:grpSpPr>
          <a:xfrm>
            <a:off x="4730329" y="980273"/>
            <a:ext cx="346035" cy="88174"/>
            <a:chOff x="520925" y="1460325"/>
            <a:chExt cx="277873" cy="68400"/>
          </a:xfrm>
        </p:grpSpPr>
        <p:sp>
          <p:nvSpPr>
            <p:cNvPr id="2278" name="Google Shape;2278;p5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1" name="Google Shape;228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000" y="1511738"/>
            <a:ext cx="4269650" cy="2223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57"/>
          <p:cNvSpPr/>
          <p:nvPr/>
        </p:nvSpPr>
        <p:spPr>
          <a:xfrm>
            <a:off x="357202" y="1355246"/>
            <a:ext cx="84375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57"/>
          <p:cNvSpPr/>
          <p:nvPr/>
        </p:nvSpPr>
        <p:spPr>
          <a:xfrm>
            <a:off x="3545248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57"/>
          <p:cNvSpPr/>
          <p:nvPr/>
        </p:nvSpPr>
        <p:spPr>
          <a:xfrm>
            <a:off x="6130096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4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57"/>
          <p:cNvSpPr/>
          <p:nvPr/>
        </p:nvSpPr>
        <p:spPr>
          <a:xfrm>
            <a:off x="960400" y="1794150"/>
            <a:ext cx="2248500" cy="2861700"/>
          </a:xfrm>
          <a:prstGeom prst="roundRect">
            <a:avLst>
              <a:gd fmla="val 47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0" name="Google Shape;2290;p57"/>
          <p:cNvGrpSpPr/>
          <p:nvPr/>
        </p:nvGrpSpPr>
        <p:grpSpPr>
          <a:xfrm>
            <a:off x="427350" y="1434150"/>
            <a:ext cx="277873" cy="68400"/>
            <a:chOff x="520925" y="1460325"/>
            <a:chExt cx="277873" cy="68400"/>
          </a:xfrm>
        </p:grpSpPr>
        <p:sp>
          <p:nvSpPr>
            <p:cNvPr id="2291" name="Google Shape;2291;p57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7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7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4" name="Google Shape;2294;p57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endParaRPr/>
          </a:p>
        </p:txBody>
      </p:sp>
      <p:sp>
        <p:nvSpPr>
          <p:cNvPr id="2295" name="Google Shape;2295;p57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296" name="Google Shape;2296;p57"/>
          <p:cNvSpPr txBox="1"/>
          <p:nvPr/>
        </p:nvSpPr>
        <p:spPr>
          <a:xfrm>
            <a:off x="9605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Event Study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97" name="Google Shape;2297;p57"/>
          <p:cNvSpPr txBox="1"/>
          <p:nvPr/>
        </p:nvSpPr>
        <p:spPr>
          <a:xfrm>
            <a:off x="3545250" y="3541625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Lead-lag Analysis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98" name="Google Shape;2298;p57"/>
          <p:cNvSpPr txBox="1"/>
          <p:nvPr/>
        </p:nvSpPr>
        <p:spPr>
          <a:xfrm>
            <a:off x="6129950" y="3541625"/>
            <a:ext cx="224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Dynamic Treatment Effect Estimation</a:t>
            </a:r>
            <a:endParaRPr sz="18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299" name="Google Shape;2299;p57"/>
          <p:cNvGrpSpPr/>
          <p:nvPr/>
        </p:nvGrpSpPr>
        <p:grpSpPr>
          <a:xfrm>
            <a:off x="4196048" y="2356444"/>
            <a:ext cx="946911" cy="966699"/>
            <a:chOff x="1438774" y="3590059"/>
            <a:chExt cx="946911" cy="966699"/>
          </a:xfrm>
        </p:grpSpPr>
        <p:grpSp>
          <p:nvGrpSpPr>
            <p:cNvPr id="2300" name="Google Shape;2300;p57"/>
            <p:cNvGrpSpPr/>
            <p:nvPr/>
          </p:nvGrpSpPr>
          <p:grpSpPr>
            <a:xfrm>
              <a:off x="1438774" y="3590059"/>
              <a:ext cx="946911" cy="966699"/>
              <a:chOff x="3707828" y="340487"/>
              <a:chExt cx="1276160" cy="1302829"/>
            </a:xfrm>
          </p:grpSpPr>
          <p:grpSp>
            <p:nvGrpSpPr>
              <p:cNvPr id="2301" name="Google Shape;2301;p57"/>
              <p:cNvGrpSpPr/>
              <p:nvPr/>
            </p:nvGrpSpPr>
            <p:grpSpPr>
              <a:xfrm>
                <a:off x="3707828" y="340487"/>
                <a:ext cx="1276160" cy="1302829"/>
                <a:chOff x="3707828" y="340487"/>
                <a:chExt cx="1276160" cy="1302829"/>
              </a:xfrm>
            </p:grpSpPr>
            <p:sp>
              <p:nvSpPr>
                <p:cNvPr id="2302" name="Google Shape;2302;p57"/>
                <p:cNvSpPr/>
                <p:nvPr/>
              </p:nvSpPr>
              <p:spPr>
                <a:xfrm>
                  <a:off x="3707828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09" y="0"/>
                      </a:lnTo>
                      <a:lnTo>
                        <a:pt x="1269809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3" name="Google Shape;2303;p57"/>
                <p:cNvSpPr/>
                <p:nvPr/>
              </p:nvSpPr>
              <p:spPr>
                <a:xfrm>
                  <a:off x="497763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4" name="Google Shape;2304;p57"/>
                <p:cNvSpPr/>
                <p:nvPr/>
              </p:nvSpPr>
              <p:spPr>
                <a:xfrm>
                  <a:off x="389242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5" name="Google Shape;2305;p57"/>
                <p:cNvSpPr/>
                <p:nvPr/>
              </p:nvSpPr>
              <p:spPr>
                <a:xfrm>
                  <a:off x="407701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6" name="Google Shape;2306;p57"/>
                <p:cNvSpPr/>
                <p:nvPr/>
              </p:nvSpPr>
              <p:spPr>
                <a:xfrm>
                  <a:off x="426154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7" name="Google Shape;2307;p57"/>
                <p:cNvSpPr/>
                <p:nvPr/>
              </p:nvSpPr>
              <p:spPr>
                <a:xfrm>
                  <a:off x="4446143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8" name="Google Shape;2308;p57"/>
                <p:cNvSpPr/>
                <p:nvPr/>
              </p:nvSpPr>
              <p:spPr>
                <a:xfrm>
                  <a:off x="463073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09" name="Google Shape;2309;p57"/>
                <p:cNvSpPr/>
                <p:nvPr/>
              </p:nvSpPr>
              <p:spPr>
                <a:xfrm>
                  <a:off x="4815268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0" name="Google Shape;2310;p57"/>
                <p:cNvSpPr/>
                <p:nvPr/>
              </p:nvSpPr>
              <p:spPr>
                <a:xfrm>
                  <a:off x="3707828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1" name="Google Shape;2311;p57"/>
                <p:cNvSpPr/>
                <p:nvPr/>
              </p:nvSpPr>
              <p:spPr>
                <a:xfrm>
                  <a:off x="3707828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2" name="Google Shape;2312;p57"/>
                <p:cNvSpPr/>
                <p:nvPr/>
              </p:nvSpPr>
              <p:spPr>
                <a:xfrm>
                  <a:off x="3707828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3" name="Google Shape;2313;p57"/>
                <p:cNvSpPr/>
                <p:nvPr/>
              </p:nvSpPr>
              <p:spPr>
                <a:xfrm>
                  <a:off x="3707828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4" name="Google Shape;2314;p57"/>
                <p:cNvSpPr/>
                <p:nvPr/>
              </p:nvSpPr>
              <p:spPr>
                <a:xfrm>
                  <a:off x="3707828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5" name="Google Shape;2315;p57"/>
                <p:cNvSpPr/>
                <p:nvPr/>
              </p:nvSpPr>
              <p:spPr>
                <a:xfrm>
                  <a:off x="3707828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6" name="Google Shape;2316;p57"/>
                <p:cNvSpPr/>
                <p:nvPr/>
              </p:nvSpPr>
              <p:spPr>
                <a:xfrm>
                  <a:off x="3707828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17" name="Google Shape;2317;p57"/>
                <p:cNvSpPr/>
                <p:nvPr/>
              </p:nvSpPr>
              <p:spPr>
                <a:xfrm>
                  <a:off x="3707828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318" name="Google Shape;2318;p57"/>
              <p:cNvSpPr/>
              <p:nvPr/>
            </p:nvSpPr>
            <p:spPr>
              <a:xfrm>
                <a:off x="4260913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29" y="0"/>
                    </a:lnTo>
                    <a:lnTo>
                      <a:pt x="185229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319" name="Google Shape;2319;p57"/>
            <p:cNvGrpSpPr/>
            <p:nvPr/>
          </p:nvGrpSpPr>
          <p:grpSpPr>
            <a:xfrm>
              <a:off x="1712541" y="3729479"/>
              <a:ext cx="497389" cy="685349"/>
              <a:chOff x="1712541" y="3729479"/>
              <a:chExt cx="497389" cy="685349"/>
            </a:xfrm>
          </p:grpSpPr>
          <p:sp>
            <p:nvSpPr>
              <p:cNvPr id="2320" name="Google Shape;2320;p57"/>
              <p:cNvSpPr/>
              <p:nvPr/>
            </p:nvSpPr>
            <p:spPr>
              <a:xfrm>
                <a:off x="1712541" y="3729479"/>
                <a:ext cx="497389" cy="685349"/>
              </a:xfrm>
              <a:custGeom>
                <a:rect b="b" l="l" r="r" t="t"/>
                <a:pathLst>
                  <a:path extrusionOk="0" h="926147" w="672147">
                    <a:moveTo>
                      <a:pt x="0" y="926084"/>
                    </a:moveTo>
                    <a:lnTo>
                      <a:pt x="0" y="0"/>
                    </a:lnTo>
                    <a:lnTo>
                      <a:pt x="149161" y="0"/>
                    </a:lnTo>
                    <a:lnTo>
                      <a:pt x="149161" y="331026"/>
                    </a:lnTo>
                    <a:lnTo>
                      <a:pt x="223711" y="331026"/>
                    </a:lnTo>
                    <a:lnTo>
                      <a:pt x="223711" y="264986"/>
                    </a:lnTo>
                    <a:lnTo>
                      <a:pt x="523049" y="264986"/>
                    </a:lnTo>
                    <a:lnTo>
                      <a:pt x="523049" y="331026"/>
                    </a:lnTo>
                    <a:lnTo>
                      <a:pt x="597598" y="331026"/>
                    </a:lnTo>
                    <a:lnTo>
                      <a:pt x="597598" y="397066"/>
                    </a:lnTo>
                    <a:lnTo>
                      <a:pt x="672148" y="397066"/>
                    </a:lnTo>
                    <a:lnTo>
                      <a:pt x="672148" y="794068"/>
                    </a:lnTo>
                    <a:lnTo>
                      <a:pt x="597598" y="794068"/>
                    </a:lnTo>
                    <a:lnTo>
                      <a:pt x="597598" y="860108"/>
                    </a:lnTo>
                    <a:lnTo>
                      <a:pt x="523049" y="860108"/>
                    </a:lnTo>
                    <a:lnTo>
                      <a:pt x="523049" y="926148"/>
                    </a:lnTo>
                    <a:lnTo>
                      <a:pt x="223711" y="926148"/>
                    </a:lnTo>
                    <a:lnTo>
                      <a:pt x="223711" y="860108"/>
                    </a:lnTo>
                    <a:lnTo>
                      <a:pt x="149161" y="860108"/>
                    </a:lnTo>
                    <a:lnTo>
                      <a:pt x="149161" y="926148"/>
                    </a:lnTo>
                    <a:lnTo>
                      <a:pt x="0" y="926148"/>
                    </a:lnTo>
                    <a:close/>
                    <a:moveTo>
                      <a:pt x="447992" y="794068"/>
                    </a:moveTo>
                    <a:lnTo>
                      <a:pt x="447992" y="728027"/>
                    </a:lnTo>
                    <a:lnTo>
                      <a:pt x="523113" y="728027"/>
                    </a:lnTo>
                    <a:lnTo>
                      <a:pt x="523113" y="463042"/>
                    </a:lnTo>
                    <a:lnTo>
                      <a:pt x="447992" y="463042"/>
                    </a:lnTo>
                    <a:lnTo>
                      <a:pt x="447992" y="397002"/>
                    </a:lnTo>
                    <a:lnTo>
                      <a:pt x="223711" y="397002"/>
                    </a:lnTo>
                    <a:lnTo>
                      <a:pt x="223711" y="463042"/>
                    </a:lnTo>
                    <a:lnTo>
                      <a:pt x="149161" y="463042"/>
                    </a:lnTo>
                    <a:lnTo>
                      <a:pt x="149161" y="728027"/>
                    </a:lnTo>
                    <a:lnTo>
                      <a:pt x="223711" y="728027"/>
                    </a:lnTo>
                    <a:lnTo>
                      <a:pt x="223711" y="794068"/>
                    </a:lnTo>
                    <a:lnTo>
                      <a:pt x="447992" y="7940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1" name="Google Shape;2321;p57"/>
              <p:cNvSpPr/>
              <p:nvPr/>
            </p:nvSpPr>
            <p:spPr>
              <a:xfrm>
                <a:off x="2049409" y="3974898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2" name="Google Shape;2322;p57"/>
              <p:cNvSpPr/>
              <p:nvPr/>
            </p:nvSpPr>
            <p:spPr>
              <a:xfrm>
                <a:off x="1744815" y="3729480"/>
                <a:ext cx="104364" cy="685302"/>
              </a:xfrm>
              <a:custGeom>
                <a:rect b="b" l="l" r="r" t="t"/>
                <a:pathLst>
                  <a:path extrusionOk="0" h="926084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926084"/>
                    </a:lnTo>
                    <a:lnTo>
                      <a:pt x="0" y="92608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3" name="Google Shape;2323;p57"/>
              <p:cNvSpPr/>
              <p:nvPr/>
            </p:nvSpPr>
            <p:spPr>
              <a:xfrm>
                <a:off x="2049409" y="4269457"/>
                <a:ext cx="104364" cy="98114"/>
              </a:xfrm>
              <a:custGeom>
                <a:rect b="b" l="l" r="r" t="t"/>
                <a:pathLst>
                  <a:path extrusionOk="0" h="132587" w="141033">
                    <a:moveTo>
                      <a:pt x="0" y="0"/>
                    </a:moveTo>
                    <a:lnTo>
                      <a:pt x="141034" y="0"/>
                    </a:lnTo>
                    <a:lnTo>
                      <a:pt x="141034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324" name="Google Shape;2324;p57"/>
          <p:cNvGrpSpPr/>
          <p:nvPr/>
        </p:nvGrpSpPr>
        <p:grpSpPr>
          <a:xfrm>
            <a:off x="1611347" y="2356444"/>
            <a:ext cx="946911" cy="966699"/>
            <a:chOff x="151447" y="3590017"/>
            <a:chExt cx="946911" cy="966699"/>
          </a:xfrm>
        </p:grpSpPr>
        <p:grpSp>
          <p:nvGrpSpPr>
            <p:cNvPr id="2325" name="Google Shape;2325;p57"/>
            <p:cNvGrpSpPr/>
            <p:nvPr/>
          </p:nvGrpSpPr>
          <p:grpSpPr>
            <a:xfrm>
              <a:off x="151447" y="3590017"/>
              <a:ext cx="946911" cy="966699"/>
              <a:chOff x="373316" y="340487"/>
              <a:chExt cx="1276160" cy="1302829"/>
            </a:xfrm>
          </p:grpSpPr>
          <p:sp>
            <p:nvSpPr>
              <p:cNvPr id="2326" name="Google Shape;2326;p57"/>
              <p:cNvSpPr/>
              <p:nvPr/>
            </p:nvSpPr>
            <p:spPr>
              <a:xfrm>
                <a:off x="373316" y="340487"/>
                <a:ext cx="1269809" cy="1296479"/>
              </a:xfrm>
              <a:custGeom>
                <a:rect b="b" l="l" r="r" t="t"/>
                <a:pathLst>
                  <a:path extrusionOk="0" h="1296479" w="1269809">
                    <a:moveTo>
                      <a:pt x="0" y="0"/>
                    </a:moveTo>
                    <a:lnTo>
                      <a:pt x="1269810" y="0"/>
                    </a:lnTo>
                    <a:lnTo>
                      <a:pt x="1269810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7" name="Google Shape;2327;p57"/>
              <p:cNvSpPr/>
              <p:nvPr/>
            </p:nvSpPr>
            <p:spPr>
              <a:xfrm>
                <a:off x="1643126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8" name="Google Shape;2328;p57"/>
              <p:cNvSpPr/>
              <p:nvPr/>
            </p:nvSpPr>
            <p:spPr>
              <a:xfrm>
                <a:off x="55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29" name="Google Shape;2329;p57"/>
              <p:cNvSpPr/>
              <p:nvPr/>
            </p:nvSpPr>
            <p:spPr>
              <a:xfrm>
                <a:off x="74250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0" name="Google Shape;2330;p57"/>
              <p:cNvSpPr/>
              <p:nvPr/>
            </p:nvSpPr>
            <p:spPr>
              <a:xfrm>
                <a:off x="92710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1" name="Google Shape;2331;p57"/>
              <p:cNvSpPr/>
              <p:nvPr/>
            </p:nvSpPr>
            <p:spPr>
              <a:xfrm>
                <a:off x="111163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2" name="Google Shape;2332;p57"/>
              <p:cNvSpPr/>
              <p:nvPr/>
            </p:nvSpPr>
            <p:spPr>
              <a:xfrm>
                <a:off x="1296225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3" name="Google Shape;2333;p57"/>
              <p:cNvSpPr/>
              <p:nvPr/>
            </p:nvSpPr>
            <p:spPr>
              <a:xfrm>
                <a:off x="1480820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4" name="Google Shape;2334;p57"/>
              <p:cNvSpPr/>
              <p:nvPr/>
            </p:nvSpPr>
            <p:spPr>
              <a:xfrm>
                <a:off x="373316" y="525653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5" name="Google Shape;2335;p57"/>
              <p:cNvSpPr/>
              <p:nvPr/>
            </p:nvSpPr>
            <p:spPr>
              <a:xfrm>
                <a:off x="373316" y="34048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6" name="Google Shape;2336;p57"/>
              <p:cNvSpPr/>
              <p:nvPr/>
            </p:nvSpPr>
            <p:spPr>
              <a:xfrm>
                <a:off x="373316" y="145173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7" name="Google Shape;2337;p57"/>
              <p:cNvSpPr/>
              <p:nvPr/>
            </p:nvSpPr>
            <p:spPr>
              <a:xfrm>
                <a:off x="373316" y="1636966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8" name="Google Shape;2338;p57"/>
              <p:cNvSpPr/>
              <p:nvPr/>
            </p:nvSpPr>
            <p:spPr>
              <a:xfrm>
                <a:off x="373316" y="1266507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39" name="Google Shape;2339;p57"/>
              <p:cNvSpPr/>
              <p:nvPr/>
            </p:nvSpPr>
            <p:spPr>
              <a:xfrm>
                <a:off x="373316" y="1081278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40" name="Google Shape;2340;p57"/>
              <p:cNvSpPr/>
              <p:nvPr/>
            </p:nvSpPr>
            <p:spPr>
              <a:xfrm>
                <a:off x="373316" y="89611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41" name="Google Shape;2341;p57"/>
              <p:cNvSpPr/>
              <p:nvPr/>
            </p:nvSpPr>
            <p:spPr>
              <a:xfrm>
                <a:off x="373316" y="710882"/>
                <a:ext cx="1269809" cy="6350"/>
              </a:xfrm>
              <a:custGeom>
                <a:rect b="b" l="l" r="r" t="t"/>
                <a:pathLst>
                  <a:path extrusionOk="0" h="6350" w="1269809">
                    <a:moveTo>
                      <a:pt x="0" y="0"/>
                    </a:moveTo>
                    <a:lnTo>
                      <a:pt x="1269810" y="0"/>
                    </a:lnTo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grpSp>
          <p:nvGrpSpPr>
            <p:cNvPr id="2342" name="Google Shape;2342;p57"/>
            <p:cNvGrpSpPr/>
            <p:nvPr/>
          </p:nvGrpSpPr>
          <p:grpSpPr>
            <a:xfrm>
              <a:off x="288463" y="3729601"/>
              <a:ext cx="685212" cy="687570"/>
              <a:chOff x="288463" y="3729601"/>
              <a:chExt cx="685212" cy="687570"/>
            </a:xfrm>
          </p:grpSpPr>
          <p:sp>
            <p:nvSpPr>
              <p:cNvPr id="2343" name="Google Shape;2343;p57"/>
              <p:cNvSpPr/>
              <p:nvPr/>
            </p:nvSpPr>
            <p:spPr>
              <a:xfrm>
                <a:off x="288463" y="3729601"/>
                <a:ext cx="685212" cy="687570"/>
              </a:xfrm>
              <a:custGeom>
                <a:rect b="b" l="l" r="r" t="t"/>
                <a:pathLst>
                  <a:path extrusionOk="0" h="926020" w="922845">
                    <a:moveTo>
                      <a:pt x="204724" y="925894"/>
                    </a:moveTo>
                    <a:lnTo>
                      <a:pt x="204724" y="833438"/>
                    </a:lnTo>
                    <a:lnTo>
                      <a:pt x="102362" y="833438"/>
                    </a:lnTo>
                    <a:lnTo>
                      <a:pt x="102362" y="740982"/>
                    </a:lnTo>
                    <a:lnTo>
                      <a:pt x="0" y="740982"/>
                    </a:lnTo>
                    <a:lnTo>
                      <a:pt x="0" y="555371"/>
                    </a:lnTo>
                    <a:lnTo>
                      <a:pt x="102362" y="555371"/>
                    </a:lnTo>
                    <a:lnTo>
                      <a:pt x="102362" y="462915"/>
                    </a:lnTo>
                    <a:lnTo>
                      <a:pt x="307150" y="462915"/>
                    </a:lnTo>
                    <a:lnTo>
                      <a:pt x="307150" y="370459"/>
                    </a:lnTo>
                    <a:lnTo>
                      <a:pt x="718122" y="370459"/>
                    </a:lnTo>
                    <a:lnTo>
                      <a:pt x="718122" y="277368"/>
                    </a:lnTo>
                    <a:lnTo>
                      <a:pt x="615061" y="277368"/>
                    </a:lnTo>
                    <a:lnTo>
                      <a:pt x="615061" y="184912"/>
                    </a:lnTo>
                    <a:lnTo>
                      <a:pt x="307213" y="184912"/>
                    </a:lnTo>
                    <a:lnTo>
                      <a:pt x="307213" y="277368"/>
                    </a:lnTo>
                    <a:lnTo>
                      <a:pt x="63" y="277368"/>
                    </a:lnTo>
                    <a:lnTo>
                      <a:pt x="63" y="184912"/>
                    </a:lnTo>
                    <a:lnTo>
                      <a:pt x="102425" y="184912"/>
                    </a:lnTo>
                    <a:lnTo>
                      <a:pt x="102425" y="92456"/>
                    </a:lnTo>
                    <a:lnTo>
                      <a:pt x="204788" y="92456"/>
                    </a:lnTo>
                    <a:lnTo>
                      <a:pt x="204788" y="0"/>
                    </a:lnTo>
                    <a:lnTo>
                      <a:pt x="718122" y="0"/>
                    </a:lnTo>
                    <a:lnTo>
                      <a:pt x="718122" y="92456"/>
                    </a:lnTo>
                    <a:lnTo>
                      <a:pt x="820484" y="92456"/>
                    </a:lnTo>
                    <a:lnTo>
                      <a:pt x="820484" y="184912"/>
                    </a:lnTo>
                    <a:lnTo>
                      <a:pt x="922845" y="184912"/>
                    </a:lnTo>
                    <a:lnTo>
                      <a:pt x="922845" y="926021"/>
                    </a:lnTo>
                    <a:lnTo>
                      <a:pt x="718058" y="926021"/>
                    </a:lnTo>
                    <a:lnTo>
                      <a:pt x="718058" y="833565"/>
                    </a:lnTo>
                    <a:lnTo>
                      <a:pt x="614998" y="833565"/>
                    </a:lnTo>
                    <a:lnTo>
                      <a:pt x="614998" y="926021"/>
                    </a:lnTo>
                    <a:lnTo>
                      <a:pt x="204724" y="926021"/>
                    </a:lnTo>
                    <a:close/>
                    <a:moveTo>
                      <a:pt x="614998" y="740918"/>
                    </a:moveTo>
                    <a:lnTo>
                      <a:pt x="614998" y="648462"/>
                    </a:lnTo>
                    <a:lnTo>
                      <a:pt x="718058" y="648462"/>
                    </a:lnTo>
                    <a:lnTo>
                      <a:pt x="718058" y="462852"/>
                    </a:lnTo>
                    <a:lnTo>
                      <a:pt x="614998" y="462852"/>
                    </a:lnTo>
                    <a:lnTo>
                      <a:pt x="614998" y="555308"/>
                    </a:lnTo>
                    <a:lnTo>
                      <a:pt x="255968" y="555308"/>
                    </a:lnTo>
                    <a:lnTo>
                      <a:pt x="255968" y="740918"/>
                    </a:lnTo>
                    <a:lnTo>
                      <a:pt x="614998" y="7409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44" name="Google Shape;2344;p57"/>
              <p:cNvSpPr/>
              <p:nvPr/>
            </p:nvSpPr>
            <p:spPr>
              <a:xfrm>
                <a:off x="425385" y="4318234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30" y="0"/>
                    </a:lnTo>
                    <a:lnTo>
                      <a:pt x="337630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2345" name="Google Shape;2345;p57"/>
              <p:cNvSpPr/>
              <p:nvPr/>
            </p:nvSpPr>
            <p:spPr>
              <a:xfrm>
                <a:off x="722694" y="4043401"/>
                <a:ext cx="250690" cy="98446"/>
              </a:xfrm>
              <a:custGeom>
                <a:rect b="b" l="l" r="r" t="t"/>
                <a:pathLst>
                  <a:path extrusionOk="0" h="132587" w="337629">
                    <a:moveTo>
                      <a:pt x="0" y="0"/>
                    </a:moveTo>
                    <a:lnTo>
                      <a:pt x="337629" y="0"/>
                    </a:lnTo>
                    <a:lnTo>
                      <a:pt x="337629" y="132588"/>
                    </a:lnTo>
                    <a:lnTo>
                      <a:pt x="0" y="1325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</p:grpSp>
      <p:grpSp>
        <p:nvGrpSpPr>
          <p:cNvPr id="2346" name="Google Shape;2346;p57"/>
          <p:cNvGrpSpPr/>
          <p:nvPr/>
        </p:nvGrpSpPr>
        <p:grpSpPr>
          <a:xfrm>
            <a:off x="6780898" y="2356444"/>
            <a:ext cx="946911" cy="966699"/>
            <a:chOff x="2725798" y="3590032"/>
            <a:chExt cx="946911" cy="966699"/>
          </a:xfrm>
        </p:grpSpPr>
        <p:grpSp>
          <p:nvGrpSpPr>
            <p:cNvPr id="2347" name="Google Shape;2347;p57"/>
            <p:cNvGrpSpPr/>
            <p:nvPr/>
          </p:nvGrpSpPr>
          <p:grpSpPr>
            <a:xfrm>
              <a:off x="2725798" y="3590032"/>
              <a:ext cx="946911" cy="966699"/>
              <a:chOff x="2040572" y="340487"/>
              <a:chExt cx="1276160" cy="1302829"/>
            </a:xfrm>
          </p:grpSpPr>
          <p:grpSp>
            <p:nvGrpSpPr>
              <p:cNvPr id="2348" name="Google Shape;2348;p57"/>
              <p:cNvGrpSpPr/>
              <p:nvPr/>
            </p:nvGrpSpPr>
            <p:grpSpPr>
              <a:xfrm>
                <a:off x="2040572" y="340487"/>
                <a:ext cx="1276160" cy="1302829"/>
                <a:chOff x="2040572" y="340487"/>
                <a:chExt cx="1276160" cy="1302829"/>
              </a:xfrm>
            </p:grpSpPr>
            <p:sp>
              <p:nvSpPr>
                <p:cNvPr id="2349" name="Google Shape;2349;p57"/>
                <p:cNvSpPr/>
                <p:nvPr/>
              </p:nvSpPr>
              <p:spPr>
                <a:xfrm>
                  <a:off x="2040572" y="340487"/>
                  <a:ext cx="1269809" cy="1296479"/>
                </a:xfrm>
                <a:custGeom>
                  <a:rect b="b" l="l" r="r" t="t"/>
                  <a:pathLst>
                    <a:path extrusionOk="0" h="1296479" w="1269809">
                      <a:moveTo>
                        <a:pt x="0" y="0"/>
                      </a:moveTo>
                      <a:lnTo>
                        <a:pt x="1269810" y="0"/>
                      </a:lnTo>
                      <a:lnTo>
                        <a:pt x="1269810" y="1296480"/>
                      </a:lnTo>
                      <a:lnTo>
                        <a:pt x="0" y="12964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0" name="Google Shape;2350;p57"/>
                <p:cNvSpPr/>
                <p:nvPr/>
              </p:nvSpPr>
              <p:spPr>
                <a:xfrm>
                  <a:off x="331038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1" name="Google Shape;2351;p57"/>
                <p:cNvSpPr/>
                <p:nvPr/>
              </p:nvSpPr>
              <p:spPr>
                <a:xfrm>
                  <a:off x="222516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2" name="Google Shape;2352;p57"/>
                <p:cNvSpPr/>
                <p:nvPr/>
              </p:nvSpPr>
              <p:spPr>
                <a:xfrm>
                  <a:off x="240976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3" name="Google Shape;2353;p57"/>
                <p:cNvSpPr/>
                <p:nvPr/>
              </p:nvSpPr>
              <p:spPr>
                <a:xfrm>
                  <a:off x="2594292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4" name="Google Shape;2354;p57"/>
                <p:cNvSpPr/>
                <p:nvPr/>
              </p:nvSpPr>
              <p:spPr>
                <a:xfrm>
                  <a:off x="2778887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5" name="Google Shape;2355;p57"/>
                <p:cNvSpPr/>
                <p:nvPr/>
              </p:nvSpPr>
              <p:spPr>
                <a:xfrm>
                  <a:off x="2963481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6" name="Google Shape;2356;p57"/>
                <p:cNvSpPr/>
                <p:nvPr/>
              </p:nvSpPr>
              <p:spPr>
                <a:xfrm>
                  <a:off x="3148076" y="340487"/>
                  <a:ext cx="6350" cy="1296479"/>
                </a:xfrm>
                <a:custGeom>
                  <a:rect b="b" l="l" r="r" t="t"/>
                  <a:pathLst>
                    <a:path extrusionOk="0" h="1296479" w="6350">
                      <a:moveTo>
                        <a:pt x="0" y="0"/>
                      </a:moveTo>
                      <a:lnTo>
                        <a:pt x="0" y="129648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7" name="Google Shape;2357;p57"/>
                <p:cNvSpPr/>
                <p:nvPr/>
              </p:nvSpPr>
              <p:spPr>
                <a:xfrm>
                  <a:off x="2040572" y="525653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8" name="Google Shape;2358;p57"/>
                <p:cNvSpPr/>
                <p:nvPr/>
              </p:nvSpPr>
              <p:spPr>
                <a:xfrm>
                  <a:off x="2040572" y="34048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59" name="Google Shape;2359;p57"/>
                <p:cNvSpPr/>
                <p:nvPr/>
              </p:nvSpPr>
              <p:spPr>
                <a:xfrm>
                  <a:off x="2040572" y="145173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60" name="Google Shape;2360;p57"/>
                <p:cNvSpPr/>
                <p:nvPr/>
              </p:nvSpPr>
              <p:spPr>
                <a:xfrm>
                  <a:off x="2040572" y="1636966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61" name="Google Shape;2361;p57"/>
                <p:cNvSpPr/>
                <p:nvPr/>
              </p:nvSpPr>
              <p:spPr>
                <a:xfrm>
                  <a:off x="2040572" y="1266507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62" name="Google Shape;2362;p57"/>
                <p:cNvSpPr/>
                <p:nvPr/>
              </p:nvSpPr>
              <p:spPr>
                <a:xfrm>
                  <a:off x="2040572" y="1081278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63" name="Google Shape;2363;p57"/>
                <p:cNvSpPr/>
                <p:nvPr/>
              </p:nvSpPr>
              <p:spPr>
                <a:xfrm>
                  <a:off x="2040572" y="89611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  <p:sp>
              <p:nvSpPr>
                <p:cNvPr id="2364" name="Google Shape;2364;p57"/>
                <p:cNvSpPr/>
                <p:nvPr/>
              </p:nvSpPr>
              <p:spPr>
                <a:xfrm>
                  <a:off x="2040572" y="710882"/>
                  <a:ext cx="1269809" cy="6350"/>
                </a:xfrm>
                <a:custGeom>
                  <a:rect b="b" l="l" r="r" t="t"/>
                  <a:pathLst>
                    <a:path extrusionOk="0" h="6350" w="1269809">
                      <a:moveTo>
                        <a:pt x="0" y="0"/>
                      </a:moveTo>
                      <a:lnTo>
                        <a:pt x="1269810" y="0"/>
                      </a:lnTo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/>
                </a:p>
              </p:txBody>
            </p:sp>
          </p:grpSp>
          <p:sp>
            <p:nvSpPr>
              <p:cNvPr id="2365" name="Google Shape;2365;p57"/>
              <p:cNvSpPr/>
              <p:nvPr/>
            </p:nvSpPr>
            <p:spPr>
              <a:xfrm>
                <a:off x="2593657" y="525653"/>
                <a:ext cx="185229" cy="185229"/>
              </a:xfrm>
              <a:custGeom>
                <a:rect b="b" l="l" r="r" t="t"/>
                <a:pathLst>
                  <a:path extrusionOk="0" h="185229" w="185229">
                    <a:moveTo>
                      <a:pt x="0" y="0"/>
                    </a:moveTo>
                    <a:lnTo>
                      <a:pt x="185230" y="0"/>
                    </a:lnTo>
                    <a:lnTo>
                      <a:pt x="185230" y="185229"/>
                    </a:lnTo>
                    <a:lnTo>
                      <a:pt x="0" y="1852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2366" name="Google Shape;2366;p57"/>
            <p:cNvSpPr/>
            <p:nvPr/>
          </p:nvSpPr>
          <p:spPr>
            <a:xfrm>
              <a:off x="2862815" y="3729522"/>
              <a:ext cx="618874" cy="687570"/>
            </a:xfrm>
            <a:custGeom>
              <a:rect b="b" l="l" r="r" t="t"/>
              <a:pathLst>
                <a:path extrusionOk="0" h="926020" w="833501">
                  <a:moveTo>
                    <a:pt x="184912" y="926020"/>
                  </a:moveTo>
                  <a:lnTo>
                    <a:pt x="184912" y="833565"/>
                  </a:lnTo>
                  <a:lnTo>
                    <a:pt x="92456" y="833565"/>
                  </a:lnTo>
                  <a:lnTo>
                    <a:pt x="92456" y="741109"/>
                  </a:lnTo>
                  <a:lnTo>
                    <a:pt x="0" y="741109"/>
                  </a:lnTo>
                  <a:lnTo>
                    <a:pt x="0" y="184912"/>
                  </a:lnTo>
                  <a:lnTo>
                    <a:pt x="92456" y="184912"/>
                  </a:lnTo>
                  <a:lnTo>
                    <a:pt x="92456" y="92456"/>
                  </a:lnTo>
                  <a:lnTo>
                    <a:pt x="184912" y="92456"/>
                  </a:lnTo>
                  <a:lnTo>
                    <a:pt x="184912" y="0"/>
                  </a:lnTo>
                  <a:lnTo>
                    <a:pt x="648589" y="0"/>
                  </a:lnTo>
                  <a:lnTo>
                    <a:pt x="648589" y="92456"/>
                  </a:lnTo>
                  <a:lnTo>
                    <a:pt x="741045" y="92456"/>
                  </a:lnTo>
                  <a:lnTo>
                    <a:pt x="741045" y="184912"/>
                  </a:lnTo>
                  <a:lnTo>
                    <a:pt x="833501" y="184912"/>
                  </a:lnTo>
                  <a:lnTo>
                    <a:pt x="833501" y="370523"/>
                  </a:lnTo>
                  <a:lnTo>
                    <a:pt x="648526" y="370523"/>
                  </a:lnTo>
                  <a:lnTo>
                    <a:pt x="648526" y="277432"/>
                  </a:lnTo>
                  <a:lnTo>
                    <a:pt x="555435" y="277432"/>
                  </a:lnTo>
                  <a:lnTo>
                    <a:pt x="555435" y="184975"/>
                  </a:lnTo>
                  <a:lnTo>
                    <a:pt x="277368" y="184975"/>
                  </a:lnTo>
                  <a:lnTo>
                    <a:pt x="277368" y="277432"/>
                  </a:lnTo>
                  <a:lnTo>
                    <a:pt x="184912" y="277432"/>
                  </a:lnTo>
                  <a:lnTo>
                    <a:pt x="184912" y="648589"/>
                  </a:lnTo>
                  <a:lnTo>
                    <a:pt x="277368" y="648589"/>
                  </a:lnTo>
                  <a:lnTo>
                    <a:pt x="277368" y="741045"/>
                  </a:lnTo>
                  <a:lnTo>
                    <a:pt x="555435" y="741045"/>
                  </a:lnTo>
                  <a:lnTo>
                    <a:pt x="555435" y="648589"/>
                  </a:lnTo>
                  <a:lnTo>
                    <a:pt x="648526" y="648589"/>
                  </a:lnTo>
                  <a:lnTo>
                    <a:pt x="648526" y="555498"/>
                  </a:lnTo>
                  <a:lnTo>
                    <a:pt x="833501" y="555498"/>
                  </a:lnTo>
                  <a:lnTo>
                    <a:pt x="833501" y="741109"/>
                  </a:lnTo>
                  <a:lnTo>
                    <a:pt x="741045" y="741109"/>
                  </a:lnTo>
                  <a:lnTo>
                    <a:pt x="741045" y="833565"/>
                  </a:lnTo>
                  <a:lnTo>
                    <a:pt x="648589" y="833565"/>
                  </a:lnTo>
                  <a:lnTo>
                    <a:pt x="648589" y="926020"/>
                  </a:lnTo>
                  <a:lnTo>
                    <a:pt x="184912" y="9260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p58"/>
          <p:cNvSpPr/>
          <p:nvPr/>
        </p:nvSpPr>
        <p:spPr>
          <a:xfrm>
            <a:off x="1213050" y="1485900"/>
            <a:ext cx="6717900" cy="2748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2" name="Google Shape;2372;p58"/>
          <p:cNvGrpSpPr/>
          <p:nvPr/>
        </p:nvGrpSpPr>
        <p:grpSpPr>
          <a:xfrm>
            <a:off x="1283225" y="1587232"/>
            <a:ext cx="277873" cy="68400"/>
            <a:chOff x="411700" y="2420932"/>
            <a:chExt cx="277873" cy="68400"/>
          </a:xfrm>
        </p:grpSpPr>
        <p:sp>
          <p:nvSpPr>
            <p:cNvPr id="2373" name="Google Shape;2373;p5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5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5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6" name="Google Shape;2376;p58"/>
          <p:cNvSpPr txBox="1"/>
          <p:nvPr>
            <p:ph idx="2" type="body"/>
          </p:nvPr>
        </p:nvSpPr>
        <p:spPr>
          <a:xfrm>
            <a:off x="167325" y="-39600"/>
            <a:ext cx="116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Brendan Zhou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58"/>
          <p:cNvSpPr/>
          <p:nvPr/>
        </p:nvSpPr>
        <p:spPr>
          <a:xfrm>
            <a:off x="311700" y="391500"/>
            <a:ext cx="6640200" cy="630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Treatment Effect Estimation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8" name="Google Shape;2378;p58" title="Screenshot 2025-05-02 at 10.11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511" y="1677350"/>
            <a:ext cx="6272975" cy="2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59"/>
          <p:cNvSpPr/>
          <p:nvPr/>
        </p:nvSpPr>
        <p:spPr>
          <a:xfrm>
            <a:off x="440825" y="1942425"/>
            <a:ext cx="4377900" cy="18006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4" name="Google Shape;2384;p59"/>
          <p:cNvGrpSpPr/>
          <p:nvPr/>
        </p:nvGrpSpPr>
        <p:grpSpPr>
          <a:xfrm>
            <a:off x="510971" y="2038083"/>
            <a:ext cx="277873" cy="68400"/>
            <a:chOff x="520925" y="1460325"/>
            <a:chExt cx="277873" cy="68400"/>
          </a:xfrm>
        </p:grpSpPr>
        <p:sp>
          <p:nvSpPr>
            <p:cNvPr id="2385" name="Google Shape;2385;p59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9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9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8" name="Google Shape;2388;p59"/>
          <p:cNvSpPr/>
          <p:nvPr/>
        </p:nvSpPr>
        <p:spPr>
          <a:xfrm>
            <a:off x="5123580" y="1372004"/>
            <a:ext cx="35796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9" name="Google Shape;2389;p59"/>
          <p:cNvGrpSpPr/>
          <p:nvPr/>
        </p:nvGrpSpPr>
        <p:grpSpPr>
          <a:xfrm>
            <a:off x="5193729" y="1467658"/>
            <a:ext cx="277873" cy="68400"/>
            <a:chOff x="520925" y="1460325"/>
            <a:chExt cx="277873" cy="68400"/>
          </a:xfrm>
        </p:grpSpPr>
        <p:sp>
          <p:nvSpPr>
            <p:cNvPr id="2390" name="Google Shape;2390;p59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59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59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3" name="Google Shape;2393;p59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</p:txBody>
      </p:sp>
      <p:sp>
        <p:nvSpPr>
          <p:cNvPr id="2394" name="Google Shape;2394;p59"/>
          <p:cNvSpPr txBox="1"/>
          <p:nvPr>
            <p:ph type="title"/>
          </p:nvPr>
        </p:nvSpPr>
        <p:spPr>
          <a:xfrm>
            <a:off x="209775" y="468575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Caitlin Clark</a:t>
            </a:r>
            <a:endParaRPr/>
          </a:p>
        </p:txBody>
      </p:sp>
      <p:pic>
        <p:nvPicPr>
          <p:cNvPr id="2395" name="Google Shape;2395;p59" title="Screenshot 2025-05-02 at 10.13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25" y="2357500"/>
            <a:ext cx="4087901" cy="78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6" name="Google Shape;239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3738" y="1942437"/>
            <a:ext cx="3259275" cy="23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60"/>
          <p:cNvSpPr/>
          <p:nvPr/>
        </p:nvSpPr>
        <p:spPr>
          <a:xfrm>
            <a:off x="440825" y="1857250"/>
            <a:ext cx="4410300" cy="25506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2" name="Google Shape;2402;p60"/>
          <p:cNvGrpSpPr/>
          <p:nvPr/>
        </p:nvGrpSpPr>
        <p:grpSpPr>
          <a:xfrm>
            <a:off x="510971" y="1952908"/>
            <a:ext cx="277873" cy="68400"/>
            <a:chOff x="520925" y="1460325"/>
            <a:chExt cx="277873" cy="68400"/>
          </a:xfrm>
        </p:grpSpPr>
        <p:sp>
          <p:nvSpPr>
            <p:cNvPr id="2403" name="Google Shape;2403;p60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0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0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6" name="Google Shape;2406;p60"/>
          <p:cNvSpPr/>
          <p:nvPr/>
        </p:nvSpPr>
        <p:spPr>
          <a:xfrm>
            <a:off x="5123580" y="1372004"/>
            <a:ext cx="3579600" cy="35211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7" name="Google Shape;2407;p60"/>
          <p:cNvGrpSpPr/>
          <p:nvPr/>
        </p:nvGrpSpPr>
        <p:grpSpPr>
          <a:xfrm>
            <a:off x="5193729" y="1467658"/>
            <a:ext cx="277873" cy="68400"/>
            <a:chOff x="520925" y="1460325"/>
            <a:chExt cx="277873" cy="68400"/>
          </a:xfrm>
        </p:grpSpPr>
        <p:sp>
          <p:nvSpPr>
            <p:cNvPr id="2408" name="Google Shape;2408;p60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0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0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1" name="Google Shape;2411;p60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 </a:t>
            </a:r>
            <a:endParaRPr/>
          </a:p>
        </p:txBody>
      </p:sp>
      <p:sp>
        <p:nvSpPr>
          <p:cNvPr id="2412" name="Google Shape;2412;p60"/>
          <p:cNvSpPr txBox="1"/>
          <p:nvPr>
            <p:ph type="title"/>
          </p:nvPr>
        </p:nvSpPr>
        <p:spPr>
          <a:xfrm>
            <a:off x="209775" y="468575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Kelsey Mitchell</a:t>
            </a:r>
            <a:endParaRPr/>
          </a:p>
        </p:txBody>
      </p:sp>
      <p:pic>
        <p:nvPicPr>
          <p:cNvPr id="2413" name="Google Shape;241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75" y="1857315"/>
            <a:ext cx="3579600" cy="2550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60" title="Screenshot 2025-05-02 at 10.18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075" y="2225625"/>
            <a:ext cx="4063799" cy="181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9" name="Google Shape;2419;p61"/>
          <p:cNvSpPr/>
          <p:nvPr/>
        </p:nvSpPr>
        <p:spPr>
          <a:xfrm>
            <a:off x="311700" y="1839562"/>
            <a:ext cx="5772900" cy="16623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61"/>
          <p:cNvSpPr txBox="1"/>
          <p:nvPr>
            <p:ph idx="4" type="subTitle"/>
          </p:nvPr>
        </p:nvSpPr>
        <p:spPr>
          <a:xfrm>
            <a:off x="311700" y="2011238"/>
            <a:ext cx="5772900" cy="15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Clark’s 2024 draft created an unprecedented spike in interest for the Indiana Fever.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exend Light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Mitchell’s case highlights that performance alone is not enough.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200"/>
              <a:t>Media narratives?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200"/>
              <a:t>Pre-established</a:t>
            </a:r>
            <a:r>
              <a:rPr lang="en" sz="1200"/>
              <a:t> fanbase?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 sz="1200"/>
              <a:t>Timing?</a:t>
            </a:r>
            <a:endParaRPr sz="1200"/>
          </a:p>
        </p:txBody>
      </p:sp>
      <p:sp>
        <p:nvSpPr>
          <p:cNvPr id="2421" name="Google Shape;2421;p61"/>
          <p:cNvSpPr/>
          <p:nvPr/>
        </p:nvSpPr>
        <p:spPr>
          <a:xfrm>
            <a:off x="6653284" y="2317834"/>
            <a:ext cx="2149200" cy="2433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61"/>
          <p:cNvSpPr/>
          <p:nvPr/>
        </p:nvSpPr>
        <p:spPr>
          <a:xfrm>
            <a:off x="6754518" y="2571750"/>
            <a:ext cx="1946700" cy="451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Limitations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3" name="Google Shape;2423;p61"/>
          <p:cNvGrpSpPr/>
          <p:nvPr/>
        </p:nvGrpSpPr>
        <p:grpSpPr>
          <a:xfrm>
            <a:off x="6723459" y="2419159"/>
            <a:ext cx="277873" cy="68400"/>
            <a:chOff x="6723459" y="2419159"/>
            <a:chExt cx="277873" cy="68400"/>
          </a:xfrm>
        </p:grpSpPr>
        <p:sp>
          <p:nvSpPr>
            <p:cNvPr id="2424" name="Google Shape;2424;p61"/>
            <p:cNvSpPr/>
            <p:nvPr/>
          </p:nvSpPr>
          <p:spPr>
            <a:xfrm>
              <a:off x="6723459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1"/>
            <p:cNvSpPr/>
            <p:nvPr/>
          </p:nvSpPr>
          <p:spPr>
            <a:xfrm>
              <a:off x="6828196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1"/>
            <p:cNvSpPr/>
            <p:nvPr/>
          </p:nvSpPr>
          <p:spPr>
            <a:xfrm>
              <a:off x="6932932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7" name="Google Shape;2427;p61"/>
          <p:cNvGrpSpPr/>
          <p:nvPr/>
        </p:nvGrpSpPr>
        <p:grpSpPr>
          <a:xfrm>
            <a:off x="381870" y="1940897"/>
            <a:ext cx="277873" cy="68400"/>
            <a:chOff x="412745" y="2419159"/>
            <a:chExt cx="277873" cy="68400"/>
          </a:xfrm>
        </p:grpSpPr>
        <p:sp>
          <p:nvSpPr>
            <p:cNvPr id="2428" name="Google Shape;2428;p61"/>
            <p:cNvSpPr/>
            <p:nvPr/>
          </p:nvSpPr>
          <p:spPr>
            <a:xfrm>
              <a:off x="412745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1"/>
            <p:cNvSpPr/>
            <p:nvPr/>
          </p:nvSpPr>
          <p:spPr>
            <a:xfrm>
              <a:off x="517482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1"/>
            <p:cNvSpPr/>
            <p:nvPr/>
          </p:nvSpPr>
          <p:spPr>
            <a:xfrm>
              <a:off x="622218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1" name="Google Shape;2431;p61"/>
          <p:cNvSpPr txBox="1"/>
          <p:nvPr>
            <p:ph idx="5" type="subTitle"/>
          </p:nvPr>
        </p:nvSpPr>
        <p:spPr>
          <a:xfrm>
            <a:off x="6616225" y="3176250"/>
            <a:ext cx="20850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Missing 2021 game data for Indiana Fever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Cannot fully separate superstar effect from general league trends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61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 </a:t>
            </a:r>
            <a:endParaRPr/>
          </a:p>
        </p:txBody>
      </p:sp>
      <p:sp>
        <p:nvSpPr>
          <p:cNvPr id="2433" name="Google Shape;2433;p61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2434" name="Google Shape;2434;p61"/>
          <p:cNvGrpSpPr/>
          <p:nvPr/>
        </p:nvGrpSpPr>
        <p:grpSpPr>
          <a:xfrm>
            <a:off x="4788551" y="590590"/>
            <a:ext cx="3698851" cy="997497"/>
            <a:chOff x="5351018" y="4955476"/>
            <a:chExt cx="4003085" cy="1380236"/>
          </a:xfrm>
        </p:grpSpPr>
        <p:sp>
          <p:nvSpPr>
            <p:cNvPr id="2435" name="Google Shape;2435;p61"/>
            <p:cNvSpPr/>
            <p:nvPr/>
          </p:nvSpPr>
          <p:spPr>
            <a:xfrm>
              <a:off x="5411982" y="5018982"/>
              <a:ext cx="3885217" cy="1253236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436" name="Google Shape;2436;p61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437" name="Google Shape;2437;p61"/>
            <p:cNvSpPr/>
            <p:nvPr/>
          </p:nvSpPr>
          <p:spPr>
            <a:xfrm>
              <a:off x="5351018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438" name="Google Shape;2438;p61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2439" name="Google Shape;2439;p61"/>
            <p:cNvSpPr/>
            <p:nvPr/>
          </p:nvSpPr>
          <p:spPr>
            <a:xfrm>
              <a:off x="9232183" y="6208712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2440" name="Google Shape;2440;p61"/>
          <p:cNvSpPr txBox="1"/>
          <p:nvPr/>
        </p:nvSpPr>
        <p:spPr>
          <a:xfrm>
            <a:off x="4841396" y="653423"/>
            <a:ext cx="346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Takeaway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Superstar arrivals can significantly boost attendance, but the effect varies.</a:t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441" name="Google Shape;2441;p61"/>
          <p:cNvSpPr/>
          <p:nvPr/>
        </p:nvSpPr>
        <p:spPr>
          <a:xfrm>
            <a:off x="6869833" y="1503184"/>
            <a:ext cx="325245" cy="397969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42" name="Google Shape;2442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61"/>
          <p:cNvSpPr/>
          <p:nvPr/>
        </p:nvSpPr>
        <p:spPr>
          <a:xfrm>
            <a:off x="2224800" y="3843875"/>
            <a:ext cx="1946700" cy="849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61"/>
          <p:cNvSpPr txBox="1"/>
          <p:nvPr>
            <p:ph idx="4" type="subTitle"/>
          </p:nvPr>
        </p:nvSpPr>
        <p:spPr>
          <a:xfrm>
            <a:off x="2346750" y="4037825"/>
            <a:ext cx="17028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What’s next?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5" name="Google Shape;2445;p61"/>
          <p:cNvGrpSpPr/>
          <p:nvPr/>
        </p:nvGrpSpPr>
        <p:grpSpPr>
          <a:xfrm>
            <a:off x="2294970" y="3945209"/>
            <a:ext cx="277873" cy="68400"/>
            <a:chOff x="412745" y="2419159"/>
            <a:chExt cx="277873" cy="68400"/>
          </a:xfrm>
        </p:grpSpPr>
        <p:sp>
          <p:nvSpPr>
            <p:cNvPr id="2446" name="Google Shape;2446;p61"/>
            <p:cNvSpPr/>
            <p:nvPr/>
          </p:nvSpPr>
          <p:spPr>
            <a:xfrm>
              <a:off x="412745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1"/>
            <p:cNvSpPr/>
            <p:nvPr/>
          </p:nvSpPr>
          <p:spPr>
            <a:xfrm>
              <a:off x="517482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1"/>
            <p:cNvSpPr/>
            <p:nvPr/>
          </p:nvSpPr>
          <p:spPr>
            <a:xfrm>
              <a:off x="622218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62"/>
          <p:cNvSpPr/>
          <p:nvPr/>
        </p:nvSpPr>
        <p:spPr>
          <a:xfrm>
            <a:off x="311700" y="1355248"/>
            <a:ext cx="8242800" cy="19908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62"/>
          <p:cNvSpPr txBox="1"/>
          <p:nvPr>
            <p:ph idx="4" type="subTitle"/>
          </p:nvPr>
        </p:nvSpPr>
        <p:spPr>
          <a:xfrm>
            <a:off x="311850" y="1585625"/>
            <a:ext cx="8004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ESPN Press Room. (2024, October 25). 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The 2024 WNBA season delivers record viewership across ESPN platforms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[Press release image].</a:t>
            </a:r>
            <a:r>
              <a:rPr lang="en"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3"/>
              </a:rPr>
              <a:t> </a:t>
            </a:r>
            <a:r>
              <a:rPr lang="en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https://espnpressroom.com/us/press-releases/2024/10/the-2024-wnba-season-delivers-record-viewership-across-espn-platforms/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Across the Timeline. (n.d.). </a:t>
            </a:r>
            <a:r>
              <a:rPr i="1" lang="en">
                <a:latin typeface="Lexend"/>
                <a:ea typeface="Lexend"/>
                <a:cs typeface="Lexend"/>
                <a:sym typeface="Lexend"/>
              </a:rPr>
              <a:t>WNBA Data Explorer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. Retrieved May 3, 2025, from</a:t>
            </a:r>
            <a:r>
              <a:rPr lang="en">
                <a:uFill>
                  <a:noFill/>
                </a:uFill>
                <a:latin typeface="Lexend"/>
                <a:ea typeface="Lexend"/>
                <a:cs typeface="Lexend"/>
                <a:sym typeface="Lexend"/>
                <a:hlinkClick r:id="rId5"/>
              </a:rPr>
              <a:t> </a:t>
            </a:r>
            <a:r>
              <a:rPr lang="en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6"/>
              </a:rPr>
              <a:t>https://www.acrossthetimeline.com/wnba/data.html</a:t>
            </a:r>
            <a:endParaRPr/>
          </a:p>
        </p:txBody>
      </p:sp>
      <p:grpSp>
        <p:nvGrpSpPr>
          <p:cNvPr id="2455" name="Google Shape;2455;p62"/>
          <p:cNvGrpSpPr/>
          <p:nvPr/>
        </p:nvGrpSpPr>
        <p:grpSpPr>
          <a:xfrm>
            <a:off x="381870" y="1456584"/>
            <a:ext cx="277873" cy="68400"/>
            <a:chOff x="412745" y="2419159"/>
            <a:chExt cx="277873" cy="68400"/>
          </a:xfrm>
        </p:grpSpPr>
        <p:sp>
          <p:nvSpPr>
            <p:cNvPr id="2456" name="Google Shape;2456;p62"/>
            <p:cNvSpPr/>
            <p:nvPr/>
          </p:nvSpPr>
          <p:spPr>
            <a:xfrm>
              <a:off x="412745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2"/>
            <p:cNvSpPr/>
            <p:nvPr/>
          </p:nvSpPr>
          <p:spPr>
            <a:xfrm>
              <a:off x="517482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2"/>
            <p:cNvSpPr/>
            <p:nvPr/>
          </p:nvSpPr>
          <p:spPr>
            <a:xfrm>
              <a:off x="622218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9" name="Google Shape;2459;p62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Brendan Zhou</a:t>
            </a:r>
            <a:r>
              <a:rPr b="1" lang="en"/>
              <a:t> </a:t>
            </a:r>
            <a:endParaRPr/>
          </a:p>
        </p:txBody>
      </p:sp>
      <p:sp>
        <p:nvSpPr>
          <p:cNvPr id="2460" name="Google Shape;2460;p62"/>
          <p:cNvSpPr txBox="1"/>
          <p:nvPr>
            <p:ph type="title"/>
          </p:nvPr>
        </p:nvSpPr>
        <p:spPr>
          <a:xfrm>
            <a:off x="209775" y="468575"/>
            <a:ext cx="50160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